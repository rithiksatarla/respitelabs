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I am Rithik. Kintrace is physical observability for robot arms.</a:t>
            </a:r>
          </a:p>
          <a:p/>
          <a:p>
            <a:r>
              <a:t>One line: a robot is a machine that believes things about itself. Where its</a:t>
            </a:r>
          </a:p>
          <a:p>
            <a:r>
              <a:t>camera is, how long its gripper is, where its joints are zeroed. When one of</a:t>
            </a:r>
          </a:p>
          <a:p>
            <a:r>
              <a:t>those beliefs stops being true, the robot does not know. It keeps working and</a:t>
            </a:r>
          </a:p>
          <a:p>
            <a:r>
              <a:t>it keeps getting it wrong.</a:t>
            </a:r>
          </a:p>
          <a:p/>
          <a:p>
            <a:r>
              <a:t>Kintrace checks those beliefs against reality. When one is wrong it tells you</a:t>
            </a:r>
          </a:p>
          <a:p>
            <a:r>
              <a:t>which one, by how much, and writes the correction back.</a:t>
            </a:r>
          </a:p>
          <a:p/>
          <a:p>
            <a:r>
              <a:t>That picture is our simulated cell at the moment of a collision, and the bar</a:t>
            </a:r>
          </a:p>
          <a:p>
            <a:r>
              <a:t>underneath is the actual output: camera moved 18.1 millimetres, fixed, good</a:t>
            </a:r>
          </a:p>
          <a:p>
            <a:r>
              <a:t>to go.</a:t>
            </a:r>
          </a:p>
          <a:p/>
          <a:p>
            <a:r>
              <a:t>If you saw this a few months ago it was called LoopCell. Same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 remember nothing else from this deck, remember this slide.</a:t>
            </a:r>
          </a:p>
          <a:p/>
          <a:p>
            <a:r>
              <a:t>Three things happen, in order.</a:t>
            </a:r>
          </a:p>
          <a:p/>
          <a:p>
            <a:r>
              <a:t>It notices. A robot already writes a lot of data: commanded joint positions,</a:t>
            </a:r>
          </a:p>
          <a:p>
            <a:r>
              <a:t>measured joint positions, what the camera sees, whether each grab worked.</a:t>
            </a:r>
          </a:p>
          <a:p>
            <a:r>
              <a:t>Kintrace reads that and finds the moment the physical setup changed. In our</a:t>
            </a:r>
          </a:p>
          <a:p>
            <a:r>
              <a:t>example, 13:40:23, and it matches that to the protective stop the controller</a:t>
            </a:r>
          </a:p>
          <a:p>
            <a:r>
              <a:t>already logged, so you are not guessing which event mattered.</a:t>
            </a:r>
          </a:p>
          <a:p/>
          <a:p>
            <a:r>
              <a:t>It explains. This is the part nobody else does. It does not say "anomaly</a:t>
            </a:r>
          </a:p>
          <a:p>
            <a:r>
              <a:t>detected". It says the camera moved 18.1 millimetres, and the tool and the</a:t>
            </a:r>
          </a:p>
          <a:p>
            <a:r>
              <a:t>joints did not. A number you can act on.</a:t>
            </a:r>
          </a:p>
          <a:p/>
          <a:p>
            <a:r>
              <a:t>It fixes. It writes the corrected calibration back to the controller, runs the</a:t>
            </a:r>
          </a:p>
          <a:p>
            <a:r>
              <a:t>check again, does six test grabs, and signs the cell GO or NO-GO.</a:t>
            </a:r>
          </a:p>
          <a:p/>
          <a:p>
            <a:r>
              <a:t>The bottom line matters for how fast we can sell. This is software. No device</a:t>
            </a:r>
          </a:p>
          <a:p>
            <a:r>
              <a:t>to mount, no downtime to install it. If the arm has a camera pointed at the</a:t>
            </a:r>
          </a:p>
          <a:p>
            <a:r>
              <a:t>work area, we can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story the whole company is built around.</a:t>
            </a:r>
          </a:p>
          <a:p/>
          <a:p>
            <a:r>
              <a:t>Left: a cell running fine. Camera on a post, arm, conveyor, parts.</a:t>
            </a:r>
          </a:p>
          <a:p/>
          <a:p>
            <a:r>
              <a:t>Middle: at 1:40 a cart clips the camera mount. Nothing alarms, because from</a:t>
            </a:r>
          </a:p>
          <a:p>
            <a:r>
              <a:t>the software's point of view nothing failed. No error code. The robot is still</a:t>
            </a:r>
          </a:p>
          <a:p>
            <a:r>
              <a:t>running and still reporting healthy. But every grab is now about a centimetre</a:t>
            </a:r>
          </a:p>
          <a:p>
            <a:r>
              <a:t>off. In a factory, parts start getting missed around 2:10 and the line stops.</a:t>
            </a:r>
          </a:p>
          <a:p>
            <a:r>
              <a:t>In a company teaching robots, every recording made in that half hour is</a:t>
            </a:r>
          </a:p>
          <a:p>
            <a:r>
              <a:t>quietly wrong and goes straight into the training set.</a:t>
            </a:r>
          </a:p>
          <a:p/>
          <a:p>
            <a:r>
              <a:t>Then a technician drives out and checks each cause by hand. Camera? Tool?</a:t>
            </a:r>
          </a:p>
          <a:p>
            <a:r>
              <a:t>Joints? Timing? That is hours.</a:t>
            </a:r>
          </a:p>
          <a:p/>
          <a:p>
            <a:r>
              <a:t>Right: with Kintrace. Flagged at 1:40:23, twenty three seconds in, from the</a:t>
            </a:r>
          </a:p>
          <a:p>
            <a:r>
              <a:t>robot's own logs. A six second check motion confirms it was the camera and</a:t>
            </a:r>
          </a:p>
          <a:p>
            <a:r>
              <a:t>nothing else. New calibration written. Six test grabs. Signed off.</a:t>
            </a:r>
          </a:p>
          <a:p/>
          <a:p>
            <a:r>
              <a:t>The gap between the middle panel and the right panel is what we sell.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different buyers feel this, and they feel it differently.</a:t>
            </a:r>
          </a:p>
          <a:p/>
          <a:p>
            <a:r>
              <a:t>On the left, companies teaching robots. When a robot is physically out of</a:t>
            </a:r>
          </a:p>
          <a:p>
            <a:r>
              <a:t>place it still records, and those recordings look fine. They are labelled with</a:t>
            </a:r>
          </a:p>
          <a:p>
            <a:r>
              <a:t>where the robot thought it was, not where it actually was. Someone audited</a:t>
            </a:r>
          </a:p>
          <a:p>
            <a:r>
              <a:t>nearly five thousand public robot training episodes with an open tool and</a:t>
            </a:r>
          </a:p>
          <a:p>
            <a:r>
              <a:t>marked about one in six as ones you should throw out. I want to be careful:</a:t>
            </a:r>
          </a:p>
          <a:p>
            <a:r>
              <a:t>that tool flags episodes for review, it is not proof, and the author says so.</a:t>
            </a:r>
          </a:p>
          <a:p>
            <a:r>
              <a:t>But at a hundred and eighteen dollars an hour to collect this data, throwing</a:t>
            </a:r>
          </a:p>
          <a:p>
            <a:r>
              <a:t>out one in six is real money.</a:t>
            </a:r>
          </a:p>
          <a:p/>
          <a:p>
            <a:r>
              <a:t>On the right, factories. An idle line at a big car plant runs to two point</a:t>
            </a:r>
          </a:p>
          <a:p>
            <a:r>
              <a:t>three million dollars an hour.</a:t>
            </a:r>
          </a:p>
          <a:p/>
          <a:p>
            <a:r>
              <a:t>I am not claiming Kintrace recovers all of that. I am saying the minutes</a:t>
            </a:r>
          </a:p>
          <a:p>
            <a:r>
              <a:t>between a bump and someone noticing are worth a lot, and nobody is selling</a:t>
            </a:r>
          </a:p>
          <a:p>
            <a:r>
              <a:t>those minutes back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has nobody done this? They have each done a piece.</a:t>
            </a:r>
          </a:p>
          <a:p/>
          <a:p>
            <a:r>
              <a:t>Monitoring dashboards. Ember is closest in spirit and their line is literally</a:t>
            </a:r>
          </a:p>
          <a:p>
            <a:r>
              <a:t>"know what changed, know what failed". Foxglove raised forty million last</a:t>
            </a:r>
          </a:p>
          <a:p>
            <a:r>
              <a:t>November. Good products. But they watch the software. They can tell you a run</a:t>
            </a:r>
          </a:p>
          <a:p>
            <a:r>
              <a:t>failed. They cannot tell you the camera is eleven millimetres to the left,</a:t>
            </a:r>
          </a:p>
          <a:p>
            <a:r>
              <a:t>because they never measure where the camera is.</a:t>
            </a:r>
          </a:p>
          <a:p/>
          <a:p>
            <a:r>
              <a:t>Calibration hardware. Dynalog sells exactly this outcome, restore accuracy</a:t>
            </a:r>
          </a:p>
          <a:p>
            <a:r>
              <a:t>after a crash without re-teaching. It works. The catch is it is hardware you</a:t>
            </a:r>
          </a:p>
          <a:p>
            <a:r>
              <a:t>mount in the cell, and it is mostly about the tool tip. A fleet with two</a:t>
            </a:r>
          </a:p>
          <a:p>
            <a:r>
              <a:t>hundred cells is not buying two hundred fixtures.</a:t>
            </a:r>
          </a:p>
          <a:p/>
          <a:p>
            <a:r>
              <a:t>Then there is what actually happens most of the time, which is a person</a:t>
            </a:r>
          </a:p>
          <a:p>
            <a:r>
              <a:t>driving out and checking things by hand.</a:t>
            </a:r>
          </a:p>
          <a:p/>
          <a:p>
            <a:r>
              <a:t>So the gap is the whole sentence: when it changed, what moved, by how much,</a:t>
            </a:r>
          </a:p>
          <a:p>
            <a:r>
              <a:t>and the fix, from software, with no new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record Kintrace printed for the incident on the last slide. It is</a:t>
            </a:r>
          </a:p>
          <a:p>
            <a:r>
              <a:t>the real thing, not a mockup, and you can produce it yourself in the browser</a:t>
            </a:r>
          </a:p>
          <a:p>
            <a:r>
              <a:t>demo in about ten seconds.</a:t>
            </a:r>
          </a:p>
          <a:p/>
          <a:p>
            <a:r>
              <a:t>Follow the three callouts.</a:t>
            </a:r>
          </a:p>
          <a:p/>
          <a:p>
            <a:r>
              <a:t>One, it noticed: found the change at 13:40:23 and matched it to the protective</a:t>
            </a:r>
          </a:p>
          <a:p>
            <a:r>
              <a:t>stop already in the controller log.</a:t>
            </a:r>
          </a:p>
          <a:p/>
          <a:p>
            <a:r>
              <a:t>Two, it explained: camera moved 18.1 millimetres. And critically, it says the</a:t>
            </a:r>
          </a:p>
          <a:p>
            <a:r>
              <a:t>other four things it checked did not move. That is the hard part. A bumped</a:t>
            </a:r>
          </a:p>
          <a:p>
            <a:r>
              <a:t>camera and a drifted joint look almost identical in the logs. The difference</a:t>
            </a:r>
          </a:p>
          <a:p>
            <a:r>
              <a:t>is that a moved camera shifts everything by the same amount, while a joint</a:t>
            </a:r>
          </a:p>
          <a:p>
            <a:r>
              <a:t>that is off gives an error that changes with the arm's pose. Kintrace fits</a:t>
            </a:r>
          </a:p>
          <a:p>
            <a:r>
              <a:t>every explanation and keeps the only one that brings the error down to sensor</a:t>
            </a:r>
          </a:p>
          <a:p>
            <a:r>
              <a:t>noise.</a:t>
            </a:r>
          </a:p>
          <a:p/>
          <a:p>
            <a:r>
              <a:t>Three, it fixed: wrote the calibration, re-ran the check, six test grabs, GO.</a:t>
            </a:r>
          </a:p>
          <a:p/>
          <a:p>
            <a:r>
              <a:t>There is no AI model in here. It is geometry and statistics. Same log in, same</a:t>
            </a:r>
          </a:p>
          <a:p>
            <a:r>
              <a:t>answer out, every time, and you can check the arithmetic. For a buyer who has</a:t>
            </a:r>
          </a:p>
          <a:p>
            <a:r>
              <a:t>to certify a cell before it goes back into production, that matters more than</a:t>
            </a:r>
          </a:p>
          <a:p>
            <a:r>
              <a:t>accuracy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benchmark. A hundred and twenty runs, twenty for each of five faults plus</a:t>
            </a:r>
          </a:p>
          <a:p>
            <a:r>
              <a:t>twenty healthy runs. Every fault is sized so it causes the same twenty</a:t>
            </a:r>
          </a:p>
          <a:p>
            <a:r>
              <a:t>millimetre miss, so the robot looks equally broken in all of them and the only</a:t>
            </a:r>
          </a:p>
          <a:p>
            <a:r>
              <a:t>question is whether you can tell them apart.</a:t>
            </a:r>
          </a:p>
          <a:p/>
          <a:p>
            <a:r>
              <a:t>Yellow is Kintrace, grey is the baseline. Look at the top two rows. A joint</a:t>
            </a:r>
          </a:p>
          <a:p>
            <a:r>
              <a:t>knocked off zero: the dashboard gets it right one time in five. A wrong tool</a:t>
            </a:r>
          </a:p>
          <a:p>
            <a:r>
              <a:t>setting loaded: two in five. Those are the expensive ones to diagnose by hand,</a:t>
            </a:r>
          </a:p>
          <a:p>
            <a:r>
              <a:t>and they are exactly where the dashboard is worst, because from its point of</a:t>
            </a:r>
          </a:p>
          <a:p>
            <a:r>
              <a:t>view all of these look like the same thing, which is that grabs are missing.</a:t>
            </a:r>
          </a:p>
          <a:p/>
          <a:p>
            <a:r>
              <a:t>Two caveats, and I would rather say them than have you find them. One, this is</a:t>
            </a:r>
          </a:p>
          <a:p>
            <a:r>
              <a:t>our simulator. Two, we wrote the baseline as well, so it is not a benchmark</a:t>
            </a:r>
          </a:p>
          <a:p>
            <a:r>
              <a:t>against a shipping product, it is a benchmark against the signals a typical</a:t>
            </a:r>
          </a:p>
          <a:p>
            <a:r>
              <a:t>dashboard tracks.</a:t>
            </a:r>
          </a:p>
          <a:p/>
          <a:p>
            <a:r>
              <a:t>That is exactly why the first money in this round goes to a real 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slide was after a crash. This one is the other half, and it is the</a:t>
            </a:r>
          </a:p>
          <a:p>
            <a:r>
              <a:t>half that makes this a subscription rather than a callout fee.</a:t>
            </a:r>
          </a:p>
          <a:p/>
          <a:p>
            <a:r>
              <a:t>Kintrace reads the logs the robot already writes, with no check motion and no</a:t>
            </a:r>
          </a:p>
          <a:p>
            <a:r>
              <a:t>interruption, and scores the cell every ten seconds. This run is a camera</a:t>
            </a:r>
          </a:p>
          <a:p>
            <a:r>
              <a:t>mount slowly sagging. The score falls. At sixty seconds Kintrace says: your</a:t>
            </a:r>
          </a:p>
          <a:p>
            <a:r>
              <a:t>camera is moving, parts are two and a half millimetres off, at this rate you</a:t>
            </a:r>
          </a:p>
          <a:p>
            <a:r>
              <a:t>start missing in about a minute. At that point nothing has failed yet. The</a:t>
            </a:r>
          </a:p>
          <a:p>
            <a:r>
              <a:t>first missed grab is fifty five seconds later.</a:t>
            </a:r>
          </a:p>
          <a:p/>
          <a:p>
            <a:r>
              <a:t>Across twenty of these drifts it warned in time nineteen times, named the</a:t>
            </a:r>
          </a:p>
          <a:p>
            <a:r>
              <a:t>cause right all twenty, and gave zero false alarms across two hundred and</a:t>
            </a:r>
          </a:p>
          <a:p>
            <a:r>
              <a:t>thirty healthy windows. The zero matters most. A monitoring tool that cries</a:t>
            </a:r>
          </a:p>
          <a:p>
            <a:r>
              <a:t>wolf gets switched off in a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is the right moment and not two years ago. Three things landed at</a:t>
            </a:r>
          </a:p>
          <a:p>
            <a:r>
              <a:t>once.</a:t>
            </a:r>
          </a:p>
          <a:p/>
          <a:p>
            <a:r>
              <a:t>First, days ago the IFR published its 2026 report: five million industrial</a:t>
            </a:r>
          </a:p>
          <a:p>
            <a:r>
              <a:t>robots now operating, a record, up nine percent. The US installed thirty eight</a:t>
            </a:r>
          </a:p>
          <a:p>
            <a:r>
              <a:t>and a half thousand and passed Japan to become the second largest market. The</a:t>
            </a:r>
          </a:p>
          <a:p>
            <a:r>
              <a:t>installed base I sell into is at its largest ever and still growing.</a:t>
            </a:r>
          </a:p>
          <a:p/>
          <a:p>
            <a:r>
              <a:t>Second, the chart. Venture money into robotics went from three point eight</a:t>
            </a:r>
          </a:p>
          <a:p>
            <a:r>
              <a:t>billion in 2022 to nine point four billion in 2025, up forty one percent in</a:t>
            </a:r>
          </a:p>
          <a:p>
            <a:r>
              <a:t>the last year alone. That money buys arms, and every arm it buys is a cell</a:t>
            </a:r>
          </a:p>
          <a:p>
            <a:r>
              <a:t>someone now has to keep straight.</a:t>
            </a:r>
          </a:p>
          <a:p/>
          <a:p>
            <a:r>
              <a:t>Third, and this is the one I care about most, physical AI is forecast to grow</a:t>
            </a:r>
          </a:p>
          <a:p>
            <a:r>
              <a:t>about forty seven percent a year. That category is companies teaching robots</a:t>
            </a:r>
          </a:p>
          <a:p>
            <a:r>
              <a:t>from recordings. They are the buyer who feels a misaligned camera immediately,</a:t>
            </a:r>
          </a:p>
          <a:p>
            <a:r>
              <a:t>because it silently poisons the thing they are spending all that money to</a:t>
            </a:r>
          </a:p>
          <a:p>
            <a:r>
              <a:t>build.</a:t>
            </a:r>
          </a:p>
          <a:p/>
          <a:p>
            <a:r>
              <a:t>Two years ago I would have been selling to factories only. Now there is a</a:t>
            </a:r>
          </a:p>
          <a:p>
            <a:r>
              <a:t>second buyer who moves faster and is in more of a hurry.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Bottom up first, because I would rather show the arithmetic than a big number.</a:t>
            </a:r>
          </a:p>
          <a:p/>
          <a:p>
            <a:r>
              <a:t>Two hundred dollars a robot a month is twenty four hundred a year. Five</a:t>
            </a:r>
          </a:p>
          <a:p>
            <a:r>
              <a:t>million robots is twelve billion a year if every robot on earth bought it.</a:t>
            </a:r>
          </a:p>
          <a:p>
            <a:r>
              <a:t>That is the TAM and it is not a real number. Nobody sells to everybody.</a:t>
            </a:r>
          </a:p>
          <a:p/>
          <a:p>
            <a:r>
              <a:t>The middle circle is the one I believe. Kintrace needs the robot to have a</a:t>
            </a:r>
          </a:p>
          <a:p>
            <a:r>
              <a:t>camera looking at the work area. My estimate is about one in ten, which gets</a:t>
            </a:r>
          </a:p>
          <a:p>
            <a:r>
              <a:t>to one point two billion a year. I want to flag that the ten percent is my</a:t>
            </a:r>
          </a:p>
          <a:p>
            <a:r>
              <a:t>estimate. I looked for a public figure for what share of the installed robot</a:t>
            </a:r>
          </a:p>
          <a:p>
            <a:r>
              <a:t>base is vision guided and there is not one. The public numbers size the robot</a:t>
            </a:r>
          </a:p>
          <a:p>
            <a:r>
              <a:t>vision market in dollars, which is a different question. So treat that as the</a:t>
            </a:r>
          </a:p>
          <a:p>
            <a:r>
              <a:t>number to push me on.</a:t>
            </a:r>
          </a:p>
          <a:p/>
          <a:p>
            <a:r>
              <a:t>The small dot is twenty thousand robots five years out, forty eight million a</a:t>
            </a:r>
          </a:p>
          <a:p>
            <a:r>
              <a:t>year. That is the number I am actually trying to hit.</a:t>
            </a:r>
          </a:p>
          <a:p/>
          <a:p>
            <a:r>
              <a:t>As a check from the other direction: twenty two and a half billion a year is</a:t>
            </a:r>
          </a:p>
          <a:p>
            <a:r>
              <a:t>already spent on industrial robot services, heading to forty one billion. My</a:t>
            </a:r>
          </a:p>
          <a:p>
            <a:r>
              <a:t>bottom up number sits inside a market that already exists and already pays for</a:t>
            </a:r>
          </a:p>
          <a:p>
            <a:r>
              <a:t>this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axes. Left to right is whether you need hardware in the cell. Bottom to</a:t>
            </a:r>
          </a:p>
          <a:p>
            <a:r>
              <a:t>top is whether you find and fix the cause or only flag that something is off.</a:t>
            </a:r>
          </a:p>
          <a:p/>
          <a:p>
            <a:r>
              <a:t>Bottom right: Ember, Foxglove, dataset quality checkers. Software, easy to</a:t>
            </a:r>
          </a:p>
          <a:p>
            <a:r>
              <a:t>deploy, but they tell you something is wrong.</a:t>
            </a:r>
          </a:p>
          <a:p/>
          <a:p>
            <a:r>
              <a:t>Top left: Dynalog and CAPTRON. They genuinely fix it. But it is a device per</a:t>
            </a:r>
          </a:p>
          <a:p>
            <a:r>
              <a:t>cell, so it does not scale across a fleet.</a:t>
            </a:r>
          </a:p>
          <a:p/>
          <a:p>
            <a:r>
              <a:t>Bottom left: the robot makers' own mastering routines. Accurate, one brand</a:t>
            </a:r>
          </a:p>
          <a:p>
            <a:r>
              <a:t>each, and a technician has to run them.</a:t>
            </a:r>
          </a:p>
          <a:p/>
          <a:p>
            <a:r>
              <a:t>Top right is empty. Software only, and it names the cause and writes the fix.</a:t>
            </a:r>
          </a:p>
          <a:p>
            <a:r>
              <a:t>That is the whole bet, and it is why I am building it now rather than waiting.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this goes, in four steps.</a:t>
            </a:r>
          </a:p>
          <a:p/>
          <a:p>
            <a:r>
              <a:t>Now: the engine works. It runs in simulation, there is a live demo you can</a:t>
            </a:r>
          </a:p>
          <a:p>
            <a:r>
              <a:t>open in a browser and break a robot yourself, and the code is on GitHub. That</a:t>
            </a:r>
          </a:p>
          <a:p>
            <a:r>
              <a:t>is real and you can check all of it today.</a:t>
            </a:r>
          </a:p>
          <a:p/>
          <a:p>
            <a:r>
              <a:t>Three months: on a real arm. That is the single biggest risk in this company,</a:t>
            </a:r>
          </a:p>
          <a:p>
            <a:r>
              <a:t>that real sensors behave worse than my simulator, so it is the first thing the</a:t>
            </a:r>
          </a:p>
          <a:p>
            <a:r>
              <a:t>money buys. Out of that comes the video I should have had for this meeting,</a:t>
            </a:r>
          </a:p>
          <a:p>
            <a:r>
              <a:t>and the first real conversations with robot teams.</a:t>
            </a:r>
          </a:p>
          <a:p/>
          <a:p>
            <a:r>
              <a:t>Six months: three paid pilots. Paid, because the only honest test of whether</a:t>
            </a:r>
          </a:p>
          <a:p>
            <a:r>
              <a:t>this is a painkiller is whether someone hands over money. Plus reading real</a:t>
            </a:r>
          </a:p>
          <a:p>
            <a:r>
              <a:t>robot logs in the formats teams already record, which is mostly ROS 2.</a:t>
            </a:r>
          </a:p>
          <a:p/>
          <a:p>
            <a:r>
              <a:t>Twelve months: always-on monitoring across fleets, and starting conversations</a:t>
            </a:r>
          </a:p>
          <a:p>
            <a:r>
              <a:t>with the arm makers about shipping it on new robots.</a:t>
            </a:r>
          </a:p>
          <a:p/>
          <a:p>
            <a:r>
              <a:t>The line at the bottom is the actual ambition. Every car has a check engine</a:t>
            </a:r>
          </a:p>
          <a:p>
            <a:r>
              <a:t>light. No robot arm has one. That is what we are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reasons, and I will give you the evidence for each rather than ask you to</a:t>
            </a:r>
          </a:p>
          <a:p>
            <a:r>
              <a:t>take my word.</a:t>
            </a:r>
          </a:p>
          <a:p/>
          <a:p>
            <a:r>
              <a:t>One, it is built. This is not a deck about something I intend to make. The</a:t>
            </a:r>
          </a:p>
          <a:p>
            <a:r>
              <a:t>engine runs, the demo is live in a browser, the code is on GitHub and there</a:t>
            </a:r>
          </a:p>
          <a:p>
            <a:r>
              <a:t>are thirty two tests passing. You can check every part of that tonight.</a:t>
            </a:r>
          </a:p>
          <a:p/>
          <a:p>
            <a:r>
              <a:t>Two, the technical edge is real. The hard problem here is that a bumped</a:t>
            </a:r>
          </a:p>
          <a:p>
            <a:r>
              <a:t>camera, a drifted joint and a bent tool look nearly identical from outside.</a:t>
            </a:r>
          </a:p>
          <a:p>
            <a:r>
              <a:t>Everything just misses. Telling them apart takes fitting every explanation to</a:t>
            </a:r>
          </a:p>
          <a:p>
            <a:r>
              <a:t>the geometry and keeping the one that brings the error down to sensor noise.</a:t>
            </a:r>
          </a:p>
          <a:p>
            <a:r>
              <a:t>We get a hundred and twenty out of a hundred and twenty, the dashboard</a:t>
            </a:r>
          </a:p>
          <a:p>
            <a:r>
              <a:t>baseline gets eighty three. In simulation, and I wrote the baseline, but that</a:t>
            </a:r>
          </a:p>
          <a:p>
            <a:r>
              <a:t>is a research result, not a weekend feature.</a:t>
            </a:r>
          </a:p>
          <a:p/>
          <a:p>
            <a:r>
              <a:t>Three, the market is large, growing, and the existing answers are a dashboard</a:t>
            </a:r>
          </a:p>
          <a:p>
            <a:r>
              <a:t>that only flags a problem or hardware you mount in every cell.</a:t>
            </a:r>
          </a:p>
          <a:p/>
          <a:p>
            <a:r>
              <a:t>Four, me. I do physical AI research at CMU, I am at the Harvard Innovation</a:t>
            </a:r>
          </a:p>
          <a:p>
            <a:r>
              <a:t>Labs, and I built all of this myself in weeks. I am not going to pretend I</a:t>
            </a:r>
          </a:p>
          <a:p>
            <a:r>
              <a:t>have customers. I have a working product and I move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hundred and fifty thousand. Here is every line of it.</a:t>
            </a:r>
          </a:p>
          <a:p/>
          <a:p>
            <a:r>
              <a:t>Eighty thousand is a part-time robotics engineer, and I would rather it turned</a:t>
            </a:r>
          </a:p>
          <a:p>
            <a:r>
              <a:t>into a cofounder. This is the honest one: I cannot build the product, sell it,</a:t>
            </a:r>
          </a:p>
          <a:p>
            <a:r>
              <a:t>and run three pilots at the same time. That is the constraint on this company</a:t>
            </a:r>
          </a:p>
          <a:p>
            <a:r>
              <a:t>right now, not the technology.</a:t>
            </a:r>
          </a:p>
          <a:p/>
          <a:p>
            <a:r>
              <a:t>Twenty thousand is a real industrial arm, a used UR3 or UR5e. Everything I</a:t>
            </a:r>
          </a:p>
          <a:p>
            <a:r>
              <a:t>have shown you is simulation. I need a real arm on a bench that I can bump,</a:t>
            </a:r>
          </a:p>
          <a:p>
            <a:r>
              <a:t>misalign and de-calibrate on purpose, over and over, without asking anyone's</a:t>
            </a:r>
          </a:p>
          <a:p>
            <a:r>
              <a:t>permission.</a:t>
            </a:r>
          </a:p>
          <a:p/>
          <a:p>
            <a:r>
              <a:t>Thirty thousand is buffer. Hardware slips and pilots take longer than anyone</a:t>
            </a:r>
          </a:p>
          <a:p>
            <a:r>
              <a:t>plans, and I would rather tell you that now than come back for a bridge.</a:t>
            </a:r>
          </a:p>
          <a:p/>
          <a:p>
            <a:r>
              <a:t>Ten thousand is pilots: travel, plus cameras and printed markers to put on</a:t>
            </a:r>
          </a:p>
          <a:p>
            <a:r>
              <a:t>customer robots.</a:t>
            </a:r>
          </a:p>
          <a:p/>
          <a:p>
            <a:r>
              <a:t>Five thousand is company setup, legal and accounting. Three thousand is cloud</a:t>
            </a:r>
          </a:p>
          <a:p>
            <a:r>
              <a:t>and software. Two thousand is two or three small desk rigs, about three</a:t>
            </a:r>
          </a:p>
          <a:p>
            <a:r>
              <a:t>hundred dollars of parts each, so I can run faults every day without tying up</a:t>
            </a:r>
          </a:p>
          <a:p>
            <a:r>
              <a:t>the expensive arm.</a:t>
            </a:r>
          </a:p>
          <a:p/>
          <a:p>
            <a:r>
              <a:t>On the right is what that buys. Three months: running on a real arm, with the</a:t>
            </a:r>
          </a:p>
          <a:p>
            <a:r>
              <a:t>video. Six months: three paying pilots. Twelve months: results from real</a:t>
            </a:r>
          </a:p>
          <a:p>
            <a:r>
              <a:t>customers and a seed round raised on evidence instead of a simulator.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713232"/>
            <a:ext cx="1417320" cy="77724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98755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21212"/>
                </a:solidFill>
                <a:latin typeface="Arial"/>
              </a:rPr>
              <a:t>Kintrace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48256"/>
            <a:ext cx="4892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900" b="0">
                <a:solidFill>
                  <a:srgbClr val="55565B"/>
                </a:solidFill>
                <a:latin typeface="Arial"/>
              </a:rPr>
              <a:t>Kintrace finds what moved on a robot, fixes it, and tells you it is good to go.</a:t>
            </a:r>
          </a:p>
        </p:txBody>
      </p:sp>
      <p:pic>
        <p:nvPicPr>
          <p:cNvPr id="5" name="Picture 4" descr="cell_cras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92224"/>
            <a:ext cx="5376672" cy="309538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4974336"/>
            <a:ext cx="4224528" cy="420624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6208" y="508406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camera moved 18.1 mm  ·  fixed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59568" y="4974336"/>
            <a:ext cx="1152144" cy="420624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59568" y="5065776"/>
            <a:ext cx="11521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>
                <a:solidFill>
                  <a:srgbClr val="121212"/>
                </a:solidFill>
                <a:latin typeface="Arial"/>
              </a:rPr>
              <a:t>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541264"/>
            <a:ext cx="5376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7A7B7F"/>
                </a:solidFill>
                <a:latin typeface="Arial"/>
              </a:rPr>
              <a:t>The tool's own output, from a run on our simulator.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82896"/>
            <a:ext cx="4892040" cy="10972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102352"/>
            <a:ext cx="4892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500" b="1">
                <a:solidFill>
                  <a:srgbClr val="121212"/>
                </a:solidFill>
                <a:latin typeface="Arial"/>
              </a:rPr>
              <a:t>Rithik Satarla</a:t>
            </a:r>
          </a:p>
          <a:p>
            <a:pPr algn="l">
              <a:lnSpc>
                <a:spcPct val="134000"/>
              </a:lnSpc>
              <a:spcAft>
                <a:spcPts val="1100"/>
              </a:spcAft>
            </a:pPr>
            <a:r>
              <a:rPr sz="1300" b="0">
                <a:solidFill>
                  <a:srgbClr val="55565B"/>
                </a:solidFill>
                <a:latin typeface="Arial"/>
              </a:rPr>
              <a:t>rithiksatarla@gmail.com</a:t>
            </a:r>
          </a:p>
          <a:p>
            <a:pPr algn="l">
              <a:lnSpc>
                <a:spcPct val="134000"/>
              </a:lnSpc>
            </a:pPr>
            <a:r>
              <a:rPr sz="1150" b="0">
                <a:solidFill>
                  <a:srgbClr val="7A7B7F"/>
                </a:solidFill>
                <a:latin typeface="Arial"/>
              </a:rPr>
              <a:t>Previously LoopCell. Same product, new name.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Kintrace finds what moved on a robot, fixes it,</a:t>
            </a:r>
          </a:p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and tells you it is good to go.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55648"/>
            <a:ext cx="3210458" cy="1280160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3" y="201168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21212"/>
                </a:solidFill>
                <a:latin typeface="Arial"/>
              </a:rPr>
              <a:t>13:40:23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4983" y="2578608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5565B"/>
                </a:solidFill>
                <a:latin typeface="Arial"/>
              </a:rPr>
              <a:t>something changed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310128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529584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21212"/>
                </a:solidFill>
                <a:latin typeface="Arial"/>
              </a:rPr>
              <a:t>Notices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68496"/>
            <a:ext cx="2936138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450" b="0">
                <a:solidFill>
                  <a:srgbClr val="55565B"/>
                </a:solidFill>
                <a:latin typeface="Arial"/>
              </a:rPr>
              <a:t>It sees the exact moment a robot got knocked out of place, from data the robot already records.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90618" y="1755648"/>
            <a:ext cx="3210458" cy="1280160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8362" y="201168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21212"/>
                </a:solidFill>
                <a:latin typeface="Arial"/>
              </a:rPr>
              <a:t>18.1 mm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8362" y="2578608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5565B"/>
                </a:solidFill>
                <a:latin typeface="Arial"/>
              </a:rPr>
              <a:t>the camera moved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0618" y="3310128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0618" y="3529584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21212"/>
                </a:solidFill>
                <a:latin typeface="Arial"/>
              </a:rPr>
              <a:t>Explains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968496"/>
            <a:ext cx="2936138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450" b="0">
                <a:solidFill>
                  <a:srgbClr val="55565B"/>
                </a:solidFill>
                <a:latin typeface="Arial"/>
              </a:rPr>
              <a:t>It says what moved and by how much. Not an alert. A measurement.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3996" y="1755648"/>
            <a:ext cx="3210458" cy="1280160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1740" y="201168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21212"/>
                </a:solidFill>
                <a:latin typeface="Arial"/>
              </a:rPr>
              <a:t>6 /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1740" y="2578608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5565B"/>
                </a:solidFill>
                <a:latin typeface="Arial"/>
              </a:rPr>
              <a:t>test grabs, then GO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03996" y="3310128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3996" y="3529584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21212"/>
                </a:solidFill>
                <a:latin typeface="Arial"/>
              </a:rPr>
              <a:t>Fixes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968496"/>
            <a:ext cx="2936138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450" b="0">
                <a:solidFill>
                  <a:srgbClr val="55565B"/>
                </a:solidFill>
                <a:latin typeface="Arial"/>
              </a:rPr>
              <a:t>It updates the robot, runs test grabs, and says whether the cell is good to go.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504688"/>
            <a:ext cx="10637215" cy="676656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5687568"/>
            <a:ext cx="1001542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21212"/>
                </a:solidFill>
                <a:latin typeface="Arial"/>
              </a:rPr>
              <a:t>Software only. No new hardware. It works on robot arms that already have a camera.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At 1:40 a cart clips a camera. Nobody finds out until 2:10.</a:t>
            </a:r>
          </a:p>
        </p:txBody>
      </p:sp>
      <p:pic>
        <p:nvPicPr>
          <p:cNvPr id="3" name="Picture 2" descr="cell_heal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55648"/>
            <a:ext cx="3271418" cy="18833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3819734"/>
            <a:ext cx="384048" cy="50292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002614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55565B"/>
                </a:solidFill>
                <a:latin typeface="Arial"/>
              </a:rPr>
              <a:t>1:40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31798"/>
            <a:ext cx="327141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Arial"/>
              </a:rPr>
              <a:t>Running fine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97558"/>
            <a:ext cx="3088538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5565B"/>
                </a:solidFill>
                <a:latin typeface="Arial"/>
              </a:rPr>
              <a:t>The camera is where the calibration says it is.</a:t>
            </a:r>
          </a:p>
        </p:txBody>
      </p:sp>
      <p:pic>
        <p:nvPicPr>
          <p:cNvPr id="8" name="Picture 7" descr="cell_cras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138" y="1755648"/>
            <a:ext cx="3271418" cy="188337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460138" y="3819734"/>
            <a:ext cx="384048" cy="50292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0138" y="4002614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55565B"/>
                </a:solidFill>
                <a:latin typeface="Arial"/>
              </a:rPr>
              <a:t>1:40 to 2:10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0138" y="4331798"/>
            <a:ext cx="327141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Arial"/>
              </a:rPr>
              <a:t>Bumped, and nobody knows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0138" y="4697558"/>
            <a:ext cx="3088538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5565B"/>
                </a:solidFill>
                <a:latin typeface="Arial"/>
              </a:rPr>
              <a:t>Every grab is a centimetre off. The robot still reports healthy.</a:t>
            </a:r>
          </a:p>
        </p:txBody>
      </p:sp>
      <p:pic>
        <p:nvPicPr>
          <p:cNvPr id="13" name="Picture 12" descr="cell_cras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3036" y="1755648"/>
            <a:ext cx="3271418" cy="188337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143036" y="3819734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3036" y="4002614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55565B"/>
                </a:solidFill>
                <a:latin typeface="Arial"/>
              </a:rPr>
              <a:t>1:43 with Kintrace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4331798"/>
            <a:ext cx="327141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Arial"/>
              </a:rPr>
              <a:t>Found, fixed, signed 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3036" y="4697558"/>
            <a:ext cx="3088538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5565B"/>
                </a:solidFill>
                <a:latin typeface="Arial"/>
              </a:rPr>
              <a:t>Camera moved 18.1 mm. New calibration written. Six test grabs.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Arial"/>
              </a:rPr>
              <a:t>An illustration, drawn from a run on our simulator. The 18.1 mm and the timings are printed by the tool. No cell like this exists yet.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You pay for it twice: in ruined training data,</a:t>
            </a:r>
          </a:p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and in stopped lines.</a:t>
            </a:r>
          </a:p>
        </p:txBody>
      </p:sp>
      <p:pic>
        <p:nvPicPr>
          <p:cNvPr id="3" name="Picture 2" descr="cost_epis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5943600" cy="1793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3840479"/>
            <a:ext cx="5760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600" b="1">
                <a:solidFill>
                  <a:srgbClr val="121212"/>
                </a:solidFill>
                <a:latin typeface="Arial"/>
              </a:rPr>
              <a:t>Robot training data</a:t>
            </a:r>
          </a:p>
          <a:p>
            <a:pPr algn="l">
              <a:lnSpc>
                <a:spcPct val="138000"/>
              </a:lnSpc>
            </a:pPr>
            <a:r>
              <a:rPr sz="1450" b="0">
                <a:solidFill>
                  <a:srgbClr val="55565B"/>
                </a:solidFill>
                <a:latin typeface="Arial"/>
              </a:rPr>
              <a:t>An open audit of 4,959 recorded episodes flagged 15.6% of them for exclusion, and another half for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60920" y="1847088"/>
            <a:ext cx="10972" cy="2788920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865376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121212"/>
                </a:solidFill>
                <a:latin typeface="Arial"/>
              </a:rPr>
              <a:t>$2.3M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761488"/>
            <a:ext cx="3840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700" b="1">
                <a:solidFill>
                  <a:srgbClr val="121212"/>
                </a:solidFill>
                <a:latin typeface="Arial"/>
              </a:rPr>
              <a:t>an hour</a:t>
            </a:r>
          </a:p>
          <a:p>
            <a:pPr algn="l">
              <a:lnSpc>
                <a:spcPct val="138000"/>
              </a:lnSpc>
            </a:pPr>
            <a:r>
              <a:rPr sz="1450" b="0">
                <a:solidFill>
                  <a:srgbClr val="55565B"/>
                </a:solidFill>
                <a:latin typeface="Arial"/>
              </a:rPr>
              <a:t>Up to, for an idle production line at a big car plant. Across the 500 largest manufacturers, unplanned downtime of every kind costs $1.4 trillion a year, about 11% of revenue.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Arial"/>
              </a:rPr>
              <a:t>Episode audit: an open source tool run over 12 public datasets, dev.to, 2026. Downtime: Siemens, The True Cost of Downtime 2024. Both linked in pitch/SOURCES.md.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Everything on the market tells you something is wrong,</a:t>
            </a:r>
          </a:p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not what moved.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55648"/>
            <a:ext cx="960120" cy="50292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21212"/>
                </a:solidFill>
                <a:latin typeface="Arial"/>
              </a:rPr>
              <a:t>Monitoring dashboards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23744"/>
            <a:ext cx="308853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B7F"/>
                </a:solidFill>
                <a:latin typeface="Arial"/>
              </a:rPr>
              <a:t>Ember, Foxglove, Formant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07791"/>
            <a:ext cx="308853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450" b="0">
                <a:solidFill>
                  <a:srgbClr val="55565B"/>
                </a:solidFill>
                <a:latin typeface="Arial"/>
              </a:rPr>
              <a:t>They watch the software and the logs. They will tell you a cell is slow or a run failed. They do not measure where the camera is, so they cannot name the physical cause.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51578" y="1755648"/>
            <a:ext cx="960120" cy="50292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1578" y="20116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21212"/>
                </a:solidFill>
                <a:latin typeface="Arial"/>
              </a:rPr>
              <a:t>Calibration 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523744"/>
            <a:ext cx="308853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B7F"/>
                </a:solidFill>
                <a:latin typeface="Arial"/>
              </a:rPr>
              <a:t>Dynalog, CAPTRON, Renishaw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1578" y="2907791"/>
            <a:ext cx="308853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450" b="0">
                <a:solidFill>
                  <a:srgbClr val="55565B"/>
                </a:solidFill>
                <a:latin typeface="Arial"/>
              </a:rPr>
              <a:t>These do measure, and they are accurate. But you bolt a device into every cell you want covered, and each one mostly does the tool.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5916" y="1755648"/>
            <a:ext cx="960120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5916" y="20116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21212"/>
                </a:solidFill>
                <a:latin typeface="Arial"/>
              </a:rPr>
              <a:t>A technician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5916" y="2523744"/>
            <a:ext cx="308853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B7F"/>
                </a:solidFill>
                <a:latin typeface="Arial"/>
              </a:rPr>
              <a:t>How it is actually done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5916" y="2907791"/>
            <a:ext cx="308853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450" b="0">
                <a:solidFill>
                  <a:srgbClr val="55565B"/>
                </a:solidFill>
                <a:latin typeface="Arial"/>
              </a:rPr>
              <a:t>Someone drives out and rules out each cause by hand, one at a time, with the cell down while they do it. It works. It costs hours.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285232"/>
            <a:ext cx="10637215" cy="786384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5468112"/>
            <a:ext cx="1001542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121212"/>
                </a:solidFill>
                <a:latin typeface="Arial"/>
              </a:rPr>
              <a:t>We have not found anyone doing all of it from software alone: when it changed, what moved, by how much, and the fix written back.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Arial"/>
              </a:rPr>
              <a:t>What each of these does is taken from their own sites and materials. Listed in pitch/SOURCES.md.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This is the tool's own output, not a mockup.</a:t>
            </a:r>
          </a:p>
        </p:txBody>
      </p:sp>
      <p:pic>
        <p:nvPicPr>
          <p:cNvPr id="3" name="Picture 2" descr="play_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19072"/>
            <a:ext cx="7818120" cy="355683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8933688" y="1810512"/>
            <a:ext cx="310896" cy="310896"/>
          </a:xfrm>
          <a:prstGeom prst="ellipse">
            <a:avLst/>
          </a:prstGeom>
          <a:solidFill>
            <a:srgbClr val="FFC400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33688" y="18653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121212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1828800"/>
            <a:ext cx="24688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Arial"/>
              </a:rPr>
              <a:t>Notices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2194560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300" b="0">
                <a:solidFill>
                  <a:srgbClr val="55565B"/>
                </a:solidFill>
                <a:latin typeface="Arial"/>
              </a:rPr>
              <a:t>Finds the moment things changed and lines it up with the protective stop the controller logged.</a:t>
            </a:r>
          </a:p>
        </p:txBody>
      </p:sp>
      <p:sp>
        <p:nvSpPr>
          <p:cNvPr id="8" name="Oval 7"/>
          <p:cNvSpPr/>
          <p:nvPr/>
        </p:nvSpPr>
        <p:spPr>
          <a:xfrm>
            <a:off x="8933688" y="3236976"/>
            <a:ext cx="310896" cy="310896"/>
          </a:xfrm>
          <a:prstGeom prst="ellipse">
            <a:avLst/>
          </a:prstGeom>
          <a:solidFill>
            <a:srgbClr val="FFC400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33688" y="329184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121212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3255264"/>
            <a:ext cx="24688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Arial"/>
              </a:rPr>
              <a:t>Explains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600" y="3621024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300" b="0">
                <a:solidFill>
                  <a:srgbClr val="55565B"/>
                </a:solidFill>
                <a:latin typeface="Arial"/>
              </a:rPr>
              <a:t>Names the cause and sizes it. Here: the camera, 18.1 mm, and nothing else moved.</a:t>
            </a:r>
          </a:p>
        </p:txBody>
      </p:sp>
      <p:sp>
        <p:nvSpPr>
          <p:cNvPr id="12" name="Oval 11"/>
          <p:cNvSpPr/>
          <p:nvPr/>
        </p:nvSpPr>
        <p:spPr>
          <a:xfrm>
            <a:off x="8933688" y="4663440"/>
            <a:ext cx="310896" cy="310896"/>
          </a:xfrm>
          <a:prstGeom prst="ellipse">
            <a:avLst/>
          </a:prstGeom>
          <a:solidFill>
            <a:srgbClr val="FFC400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33688" y="4718303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121212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4681727"/>
            <a:ext cx="24688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Arial"/>
              </a:rPr>
              <a:t>Fixes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5047488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300" b="0">
                <a:solidFill>
                  <a:srgbClr val="55565B"/>
                </a:solidFill>
                <a:latin typeface="Arial"/>
              </a:rPr>
              <a:t>Writes the new calibration, re-checks, runs six test grabs, then signs GO or NO-GO.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Arial"/>
              </a:rPr>
              <a:t>A real run of the tool on our simulated cell. You can run it yourself at the demo link on the last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In our simulator, Kintrace named the right cause</a:t>
            </a:r>
          </a:p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every time. The dashboard baseline we wrote got 69%.</a:t>
            </a:r>
          </a:p>
        </p:txBody>
      </p:sp>
      <p:pic>
        <p:nvPicPr>
          <p:cNvPr id="3" name="Picture 2" descr="results_by_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368" y="1828800"/>
            <a:ext cx="8339326" cy="41696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Arial"/>
              </a:rPr>
              <a:t>120 runs on our simulated UR5e pick cell, 20 per case, every fault sized to cause the same 20 mm miss. The baseline is ours, built from the signals a typical dashboard tracks. Never run on a real arm.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It also catches slow drift, about 55 seconds</a:t>
            </a:r>
          </a:p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before the first grab misses.</a:t>
            </a:r>
          </a:p>
        </p:txBody>
      </p:sp>
      <p:pic>
        <p:nvPicPr>
          <p:cNvPr id="3" name="Picture 2" descr="early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792224"/>
            <a:ext cx="8523514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Arial"/>
              </a:rPr>
              <a:t>One simulated run of a sagging camera mount. Across 20 drifts it warned before the first miss 19 times, named the cause right 20 times, and raised 0 false alarms in 230 healthy windows. Drift is sped up so a run takes minutes. We have not measured lead time at real-world drift rates.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There have never been more robots, and the money</a:t>
            </a:r>
          </a:p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behind them doubled in three years.</a:t>
            </a:r>
          </a:p>
        </p:txBody>
      </p:sp>
      <p:pic>
        <p:nvPicPr>
          <p:cNvPr id="3" name="Picture 2" descr="why_n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3664"/>
            <a:ext cx="7223760" cy="3487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412480" y="1901952"/>
            <a:ext cx="868680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2121408"/>
            <a:ext cx="32918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21212"/>
                </a:solidFill>
                <a:latin typeface="Arial"/>
              </a:rPr>
              <a:t>5 million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2743200"/>
            <a:ext cx="3291840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55565B"/>
                </a:solidFill>
                <a:latin typeface="Arial"/>
              </a:rPr>
              <a:t>industrial robots now operating, a record, up 9% in a year. The US installed 38,500 and passed Japan. IFR, September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4114800"/>
            <a:ext cx="868680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4334256"/>
            <a:ext cx="32918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21212"/>
                </a:solidFill>
                <a:latin typeface="Arial"/>
              </a:rPr>
              <a:t>47% a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4956048"/>
            <a:ext cx="3291840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55565B"/>
                </a:solidFill>
                <a:latin typeface="Arial"/>
              </a:rPr>
              <a:t>forecast growth for physical AI, from $0.89B in 2025 to $15.2B by 2032. Every robot in it learns from recordings.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Arial"/>
              </a:rPr>
              <a:t>IFR World Robotics 2026. MarketsandMarkets, physical AI. Venture figures from Robotics Center, State of Robotics 2026. Links in pitch/SOURCES.md.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At $200 a robot a month, the part we can</a:t>
            </a:r>
          </a:p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realistically sell to is $1.2B a year.</a:t>
            </a:r>
          </a:p>
        </p:txBody>
      </p:sp>
      <p:pic>
        <p:nvPicPr>
          <p:cNvPr id="3" name="Picture 2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773936"/>
            <a:ext cx="8485632" cy="35112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449824"/>
            <a:ext cx="10637215" cy="749808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" y="5614416"/>
            <a:ext cx="1001542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21212"/>
                </a:solidFill>
                <a:latin typeface="Arial"/>
              </a:rPr>
              <a:t>Top down check: $22.5B was spent on industrial robot services in 2023, heading to $41.6B by 2033. Our $12B bottom up number sits inside a services market already twice its size.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Arial"/>
              </a:rPr>
              <a:t>Robot count: IFR World Robotics 2026. Services market: Market.us, October 2024. The 10% camera share is our own estimate; we looked for a public figure and did not find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Software that names the cause and fixes it is an empty box.</a:t>
            </a:r>
          </a:p>
        </p:txBody>
      </p:sp>
      <p:sp>
        <p:nvSpPr>
          <p:cNvPr id="3" name="Rectangle 2"/>
          <p:cNvSpPr/>
          <p:nvPr/>
        </p:nvSpPr>
        <p:spPr>
          <a:xfrm>
            <a:off x="2331720" y="2066543"/>
            <a:ext cx="7498079" cy="3255264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80759" y="2066543"/>
            <a:ext cx="3749039" cy="162763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331720" y="3694176"/>
            <a:ext cx="7498079" cy="10972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0759" y="2066543"/>
            <a:ext cx="10972" cy="3255264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24327" y="2359151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21212"/>
                </a:solidFill>
                <a:latin typeface="Arial"/>
              </a:rPr>
              <a:t>Dynalog, CAPTRON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7" y="2651759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55565B"/>
                </a:solidFill>
                <a:latin typeface="Arial"/>
              </a:rPr>
              <a:t>Finds and fixes it, but you mount hardware in every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3368" y="2359151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21212"/>
                </a:solidFill>
                <a:latin typeface="Arial"/>
              </a:rPr>
              <a:t>Kintrace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651759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55565B"/>
                </a:solidFill>
                <a:latin typeface="Arial"/>
              </a:rPr>
              <a:t>Finds it, sizes it, writes the fix, certifies the cell. Software only.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7" y="398678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21212"/>
                </a:solidFill>
                <a:latin typeface="Arial"/>
              </a:rPr>
              <a:t>Robot makers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4327" y="4279392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55565B"/>
                </a:solidFill>
                <a:latin typeface="Arial"/>
              </a:rPr>
              <a:t>Built-in mastering routines. One brand, run by a technician.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98678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21212"/>
                </a:solidFill>
                <a:latin typeface="Arial"/>
              </a:rPr>
              <a:t>Ember, Foxglove, dataset checkers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4279392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55565B"/>
                </a:solidFill>
                <a:latin typeface="Arial"/>
              </a:rPr>
              <a:t>Show you something is off. No geometry, no fix.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1737360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7A7B7F"/>
                </a:solidFill>
                <a:latin typeface="Arial"/>
              </a:rPr>
              <a:t>Finds and fixes the cause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54132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7A7B7F"/>
                </a:solidFill>
                <a:latin typeface="Arial"/>
              </a:rPr>
              <a:t>Only shows a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7" y="3547872"/>
            <a:ext cx="1335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7A7B7F"/>
                </a:solidFill>
                <a:latin typeface="Arial"/>
              </a:rPr>
              <a:t>Needs hardware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57816" y="3547872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7A7B7F"/>
                </a:solidFill>
                <a:latin typeface="Arial"/>
              </a:rPr>
              <a:t>Software only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Where we are going.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2505456"/>
            <a:ext cx="10134295" cy="18288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" y="2427732"/>
            <a:ext cx="182880" cy="182880"/>
          </a:xfrm>
          <a:prstGeom prst="ellipse">
            <a:avLst/>
          </a:prstGeom>
          <a:solidFill>
            <a:srgbClr val="FFC400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5" y="1901951"/>
            <a:ext cx="217924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Arial"/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5" y="2816351"/>
            <a:ext cx="213352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Arial"/>
              </a:rPr>
              <a:t>The engine works in simulation. A live demo anyone can try, and the code is open on GitHub.</a:t>
            </a:r>
          </a:p>
        </p:txBody>
      </p:sp>
      <p:sp>
        <p:nvSpPr>
          <p:cNvPr id="7" name="Oval 6"/>
          <p:cNvSpPr/>
          <p:nvPr/>
        </p:nvSpPr>
        <p:spPr>
          <a:xfrm>
            <a:off x="3331387" y="2427732"/>
            <a:ext cx="182880" cy="182880"/>
          </a:xfrm>
          <a:prstGeom prst="ellipse">
            <a:avLst/>
          </a:prstGeom>
          <a:solidFill>
            <a:srgbClr val="F7F7F4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58819" y="1901951"/>
            <a:ext cx="217924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Arial"/>
              </a:rPr>
              <a:t>3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8819" y="2816351"/>
            <a:ext cx="213352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Arial"/>
              </a:rPr>
              <a:t>Kintrace running on a real robot arm, a video of it catching and fixing a bump, and first conversations with robot teams.</a:t>
            </a:r>
          </a:p>
        </p:txBody>
      </p:sp>
      <p:sp>
        <p:nvSpPr>
          <p:cNvPr id="10" name="Oval 9"/>
          <p:cNvSpPr/>
          <p:nvPr/>
        </p:nvSpPr>
        <p:spPr>
          <a:xfrm>
            <a:off x="5876391" y="2427732"/>
            <a:ext cx="182880" cy="182880"/>
          </a:xfrm>
          <a:prstGeom prst="ellipse">
            <a:avLst/>
          </a:prstGeom>
          <a:solidFill>
            <a:srgbClr val="F7F7F4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03823" y="1901951"/>
            <a:ext cx="217924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Arial"/>
              </a:rPr>
              <a:t>6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3823" y="2816351"/>
            <a:ext cx="213352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Arial"/>
              </a:rPr>
              <a:t>Three paid pilots with robot learning teams and robot fleets, and real robot data plugged in through ROS 2 logs.</a:t>
            </a:r>
          </a:p>
        </p:txBody>
      </p:sp>
      <p:sp>
        <p:nvSpPr>
          <p:cNvPr id="13" name="Oval 12"/>
          <p:cNvSpPr/>
          <p:nvPr/>
        </p:nvSpPr>
        <p:spPr>
          <a:xfrm>
            <a:off x="8421395" y="2427732"/>
            <a:ext cx="182880" cy="182880"/>
          </a:xfrm>
          <a:prstGeom prst="ellipse">
            <a:avLst/>
          </a:prstGeom>
          <a:solidFill>
            <a:srgbClr val="F7F7F4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8827" y="1901951"/>
            <a:ext cx="217924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21212"/>
                </a:solidFill>
                <a:latin typeface="Arial"/>
              </a:rPr>
              <a:t>12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8827" y="2816351"/>
            <a:ext cx="213352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Arial"/>
              </a:rPr>
              <a:t>Always-on monitoring for fleets, then working with robot makers to ship it on new arms.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882896"/>
            <a:ext cx="10637215" cy="1005840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82896"/>
            <a:ext cx="68580" cy="1005840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084064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400" b="1">
                <a:solidFill>
                  <a:srgbClr val="121212"/>
                </a:solidFill>
                <a:latin typeface="Arial"/>
              </a:rPr>
              <a:t>Where this goes</a:t>
            </a:r>
          </a:p>
          <a:p>
            <a:pPr algn="l">
              <a:lnSpc>
                <a:spcPct val="136000"/>
              </a:lnSpc>
            </a:pPr>
            <a:r>
              <a:rPr sz="1500" b="0">
                <a:solidFill>
                  <a:srgbClr val="55565B"/>
                </a:solidFill>
                <a:latin typeface="Arial"/>
              </a:rPr>
              <a:t>Every robot arm checked the way a car has a check engine light, with Kintrace as the standard way to know a robot is physically right.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Why back Kintrace now.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55648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75104"/>
            <a:ext cx="481568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21212"/>
                </a:solidFill>
                <a:latin typeface="Arial"/>
              </a:rPr>
              <a:t>It is built, not an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14015"/>
            <a:ext cx="481568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Arial"/>
              </a:rPr>
              <a:t>A working engine, a live demo, open code and 32 tests passing. You can run the whole thing yourself before you decide.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61607" y="1755648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1607" y="1975104"/>
            <a:ext cx="481568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21212"/>
                </a:solidFill>
                <a:latin typeface="Arial"/>
              </a:rPr>
              <a:t>A hard technical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1607" y="2414015"/>
            <a:ext cx="481568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Arial"/>
              </a:rPr>
              <a:t>It tells apart faults that look identical from outside, camera against joint against tool, and gives the exact fix. 120/120 against 83/120 for a dashboard baseline. That is research, not a feature someone adds in a week.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30752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950208"/>
            <a:ext cx="481568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21212"/>
                </a:solidFill>
                <a:latin typeface="Arial"/>
              </a:rPr>
              <a:t>A big market with no software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89120"/>
            <a:ext cx="481568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Arial"/>
              </a:rPr>
              <a:t>5 million robots, 600,000 added a year, robot learning booming. Today you get a dashboard that only flags a problem, or hardware in every cell.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61607" y="3730752"/>
            <a:ext cx="384048" cy="50292"/>
          </a:xfrm>
          <a:prstGeom prst="rect">
            <a:avLst/>
          </a:prstGeom>
          <a:solidFill>
            <a:srgbClr val="FFC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3950208"/>
            <a:ext cx="481568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21212"/>
                </a:solidFill>
                <a:latin typeface="Arial"/>
              </a:rPr>
              <a:t>The founder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4389120"/>
            <a:ext cx="481568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4000"/>
              </a:lnSpc>
            </a:pPr>
            <a:r>
              <a:rPr sz="1350" b="0">
                <a:solidFill>
                  <a:srgbClr val="55565B"/>
                </a:solidFill>
                <a:latin typeface="Arial"/>
              </a:rPr>
              <a:t>Physical AI research at CMU, Harvard Innovation Labs. I built all of this myself, from idea to working product in weeks.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A7B7F"/>
                </a:solidFill>
                <a:latin typeface="Arial"/>
              </a:rPr>
              <a:t>The 120/120 and 83/120 are from our simulator, and we wrote the baseline. No customers, no pilots and no real-arm results yet. That is what this round is for.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21212"/>
                </a:solidFill>
                <a:latin typeface="Arial"/>
              </a:rPr>
              <a:t>$150K takes Kintrace from simulation to paying customers.</a:t>
            </a:r>
          </a:p>
        </p:txBody>
      </p:sp>
      <p:pic>
        <p:nvPicPr>
          <p:cNvPr id="3" name="Picture 2" descr="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6858000" cy="295603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60920" y="1773936"/>
            <a:ext cx="10972" cy="3200400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0" y="1755648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7A7B7F"/>
                </a:solidFill>
                <a:latin typeface="Arial"/>
              </a:rPr>
              <a:t>What it buys</a:t>
            </a:r>
          </a:p>
        </p:txBody>
      </p:sp>
      <p:sp>
        <p:nvSpPr>
          <p:cNvPr id="6" name="Oval 5"/>
          <p:cNvSpPr/>
          <p:nvPr/>
        </p:nvSpPr>
        <p:spPr>
          <a:xfrm>
            <a:off x="7680960" y="2286000"/>
            <a:ext cx="146304" cy="146304"/>
          </a:xfrm>
          <a:prstGeom prst="ellipse">
            <a:avLst/>
          </a:prstGeom>
          <a:solidFill>
            <a:srgbClr val="FFC400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91856" y="2212848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21212"/>
                </a:solidFill>
                <a:latin typeface="Arial"/>
              </a:rPr>
              <a:t>3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1856" y="2523744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300" b="0">
                <a:solidFill>
                  <a:srgbClr val="55565B"/>
                </a:solidFill>
                <a:latin typeface="Arial"/>
              </a:rPr>
              <a:t>Kintrace on a real robot arm, a demo video, first user conversations</a:t>
            </a:r>
          </a:p>
        </p:txBody>
      </p:sp>
      <p:sp>
        <p:nvSpPr>
          <p:cNvPr id="9" name="Oval 8"/>
          <p:cNvSpPr/>
          <p:nvPr/>
        </p:nvSpPr>
        <p:spPr>
          <a:xfrm>
            <a:off x="7680960" y="3328416"/>
            <a:ext cx="146304" cy="146304"/>
          </a:xfrm>
          <a:prstGeom prst="ellipse">
            <a:avLst/>
          </a:prstGeom>
          <a:solidFill>
            <a:srgbClr val="F7F7F4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91856" y="325526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21212"/>
                </a:solidFill>
                <a:latin typeface="Arial"/>
              </a:rPr>
              <a:t>6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1856" y="3566160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300" b="0">
                <a:solidFill>
                  <a:srgbClr val="55565B"/>
                </a:solidFill>
                <a:latin typeface="Arial"/>
              </a:rPr>
              <a:t>Three paying pilots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0" y="4370831"/>
            <a:ext cx="146304" cy="146304"/>
          </a:xfrm>
          <a:prstGeom prst="ellipse">
            <a:avLst/>
          </a:prstGeom>
          <a:solidFill>
            <a:srgbClr val="F7F7F4"/>
          </a:solidFill>
          <a:ln w="10160">
            <a:solidFill>
              <a:srgbClr val="12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91856" y="429768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21212"/>
                </a:solidFill>
                <a:latin typeface="Arial"/>
              </a:rPr>
              <a:t>12 months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1856" y="4608576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300" b="0">
                <a:solidFill>
                  <a:srgbClr val="55565B"/>
                </a:solidFill>
                <a:latin typeface="Arial"/>
              </a:rPr>
              <a:t>Results from real customers, ready for a seed round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815584"/>
            <a:ext cx="10637215" cy="10972"/>
          </a:xfrm>
          <a:prstGeom prst="rect">
            <a:avLst/>
          </a:prstGeom>
          <a:solidFill>
            <a:srgbClr val="DE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998464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350" b="1">
                <a:solidFill>
                  <a:srgbClr val="121212"/>
                </a:solidFill>
                <a:latin typeface="Arial"/>
              </a:rPr>
              <a:t>Rithik Satarla</a:t>
            </a:r>
          </a:p>
          <a:p>
            <a:pPr algn="l">
              <a:lnSpc>
                <a:spcPct val="134000"/>
              </a:lnSpc>
            </a:pPr>
            <a:r>
              <a:rPr sz="1200" b="0">
                <a:solidFill>
                  <a:srgbClr val="55565B"/>
                </a:solidFill>
                <a:latin typeface="Arial"/>
              </a:rPr>
              <a:t>Physical AI research at CMU. Harvard Innovation Labs. rithiksatarla@gmail.com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5998464"/>
            <a:ext cx="30934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4000"/>
              </a:lnSpc>
            </a:pPr>
            <a:r>
              <a:rPr sz="1200" b="0">
                <a:solidFill>
                  <a:srgbClr val="55565B"/>
                </a:solidFill>
                <a:latin typeface="Arial"/>
              </a:rPr>
              <a:t>Try it: the browser demo</a:t>
            </a:r>
          </a:p>
          <a:p>
            <a:pPr algn="r">
              <a:lnSpc>
                <a:spcPct val="134000"/>
              </a:lnSpc>
            </a:pPr>
            <a:r>
              <a:rPr sz="1200" b="0">
                <a:solidFill>
                  <a:srgbClr val="55565B"/>
                </a:solidFill>
                <a:latin typeface="Arial"/>
              </a:rPr>
              <a:t>github.com/RithikSatarla/kintrace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