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 am Rithik. Kintrace is physical observability for robot arms.</a:t>
            </a:r>
          </a:p>
          <a:p/>
          <a:p>
            <a:r>
              <a:t>Here is the one line. A robot is a machine that believes things about itself.</a:t>
            </a:r>
          </a:p>
          <a:p>
            <a:r>
              <a:t>It believes where its camera is, how long its gripper is, where its joints are</a:t>
            </a:r>
          </a:p>
          <a:p>
            <a:r>
              <a:t>zeroed. When one of those beliefs stops being true, the robot does not know.</a:t>
            </a:r>
          </a:p>
          <a:p>
            <a:r>
              <a:t>It keeps working, and it keeps getting it wrong.</a:t>
            </a:r>
          </a:p>
          <a:p/>
          <a:p>
            <a:r>
              <a:t>Kintrace is the thing that checks those beliefs against reality, and when one</a:t>
            </a:r>
          </a:p>
          <a:p>
            <a:r>
              <a:t>is wrong, tells you which one, by how much, and writes the correction back.</a:t>
            </a:r>
          </a:p>
          <a:p/>
          <a:p>
            <a:r>
              <a:t>If you saw this a few months ago it was called LoopCell. Same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company in one slide, so let me walk it.</a:t>
            </a:r>
          </a:p>
          <a:p/>
          <a:p>
            <a:r>
              <a:t>Top row is what happens today. A cart clips the camera mount at 1:40. Nothing</a:t>
            </a:r>
          </a:p>
          <a:p>
            <a:r>
              <a:t>alarms, because from the software's point of view nothing failed. The robot is</a:t>
            </a:r>
          </a:p>
          <a:p>
            <a:r>
              <a:t>still running, still reporting healthy. But every grab is now about a</a:t>
            </a:r>
          </a:p>
          <a:p>
            <a:r>
              <a:t>centimetre off. If this is a factory, parts start getting missed at 2:10 and</a:t>
            </a:r>
          </a:p>
          <a:p>
            <a:r>
              <a:t>the line stops. If this is a company teaching robots, every recording made in</a:t>
            </a:r>
          </a:p>
          <a:p>
            <a:r>
              <a:t>that half hour is quietly wrong, and it goes into the training set.</a:t>
            </a:r>
          </a:p>
          <a:p/>
          <a:p>
            <a:r>
              <a:t>Then a technician drives out and checks each possible cause by hand. Camera?</a:t>
            </a:r>
          </a:p>
          <a:p>
            <a:r>
              <a:t>Tool? Joints? Timing? That is hours.</a:t>
            </a:r>
          </a:p>
          <a:p/>
          <a:p>
            <a:r>
              <a:t>Bottom row is with Kintrace. Flagged at 1:40:23, twenty three seconds in, off</a:t>
            </a:r>
          </a:p>
          <a:p>
            <a:r>
              <a:t>the robot's own logs. It runs a six second check motion to confirm the camera</a:t>
            </a:r>
          </a:p>
          <a:p>
            <a:r>
              <a:t>moved and nothing else did. It writes the new calibration. Six test grabs.</a:t>
            </a:r>
          </a:p>
          <a:p>
            <a:r>
              <a:t>Signed off.</a:t>
            </a:r>
          </a:p>
          <a:p/>
          <a:p>
            <a:r>
              <a:t>Be straight about this: this is an example from our simulator. The times and</a:t>
            </a:r>
          </a:p>
          <a:p>
            <a:r>
              <a:t>the 18 mm are real output from the tool, not numbers I made up for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different buyers feel this, and they feel it differently.</a:t>
            </a:r>
          </a:p>
          <a:p/>
          <a:p>
            <a:r>
              <a:t>On the left, companies teaching robots. When a robot is physically out of</a:t>
            </a:r>
          </a:p>
          <a:p>
            <a:r>
              <a:t>place, it still records. Those recordings look fine. They are labelled with</a:t>
            </a:r>
          </a:p>
          <a:p>
            <a:r>
              <a:t>where the robot thought it was, not where it actually was. Someone audited</a:t>
            </a:r>
          </a:p>
          <a:p>
            <a:r>
              <a:t>nearly five thousand public robot training episodes with an open tool and</a:t>
            </a:r>
          </a:p>
          <a:p>
            <a:r>
              <a:t>marked about one in six as ones you should throw out. I want to be careful</a:t>
            </a:r>
          </a:p>
          <a:p>
            <a:r>
              <a:t>here: that tool flags episodes for review, it is not proof, and the author</a:t>
            </a:r>
          </a:p>
          <a:p>
            <a:r>
              <a:t>says so. But it points at something real. At a hundred and eighteen dollars an</a:t>
            </a:r>
          </a:p>
          <a:p>
            <a:r>
              <a:t>hour to collect this data, throwing out one in six is expensive.</a:t>
            </a:r>
          </a:p>
          <a:p/>
          <a:p>
            <a:r>
              <a:t>On the right, factories. An idle line at a big car plant runs to two point</a:t>
            </a:r>
          </a:p>
          <a:p>
            <a:r>
              <a:t>three million dollars an hour. The five hundred biggest manufacturers lose</a:t>
            </a:r>
          </a:p>
          <a:p>
            <a:r>
              <a:t>about one point four trillion a year to unplanned downtime.</a:t>
            </a:r>
          </a:p>
          <a:p/>
          <a:p>
            <a:r>
              <a:t>I am not claiming Kintrace recovers all of that. I am saying the minutes</a:t>
            </a:r>
          </a:p>
          <a:p>
            <a:r>
              <a:t>between a bump and someone noticing are worth a lot, and right now nobody is</a:t>
            </a:r>
          </a:p>
          <a:p>
            <a:r>
              <a:t>selling those minutes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has nobody done this? They have each done a piece.</a:t>
            </a:r>
          </a:p>
          <a:p/>
          <a:p>
            <a:r>
              <a:t>Monitoring dashboards. Ember is the closest in spirit, YC backed, and their</a:t>
            </a:r>
          </a:p>
          <a:p>
            <a:r>
              <a:t>line is literally "know what changed, know what failed". Foxglove raised forty</a:t>
            </a:r>
          </a:p>
          <a:p>
            <a:r>
              <a:t>million last November. These are good products. But they watch the software.</a:t>
            </a:r>
          </a:p>
          <a:p>
            <a:r>
              <a:t>They can tell you a run failed. They cannot tell you the camera is eleven</a:t>
            </a:r>
          </a:p>
          <a:p>
            <a:r>
              <a:t>millimetres to the left, because they never measure where the camera is.</a:t>
            </a:r>
          </a:p>
          <a:p/>
          <a:p>
            <a:r>
              <a:t>Calibration hardware. Dynalog sells exactly this outcome, restore accuracy</a:t>
            </a:r>
          </a:p>
          <a:p>
            <a:r>
              <a:t>after a crash without re-teaching. It works. The catch is it is hardware you</a:t>
            </a:r>
          </a:p>
          <a:p>
            <a:r>
              <a:t>mount in the cell, and it is mostly about the tool tip. A fleet with two</a:t>
            </a:r>
          </a:p>
          <a:p>
            <a:r>
              <a:t>hundred cells is not buying two hundred fixtures.</a:t>
            </a:r>
          </a:p>
          <a:p/>
          <a:p>
            <a:r>
              <a:t>And then there is what actually happens most of the time, which is a person</a:t>
            </a:r>
          </a:p>
          <a:p>
            <a:r>
              <a:t>driving out and checking things by hand.</a:t>
            </a:r>
          </a:p>
          <a:p/>
          <a:p>
            <a:r>
              <a:t>So the gap is the whole sentence: when it changed, what moved, by how much,</a:t>
            </a:r>
          </a:p>
          <a:p>
            <a:r>
              <a:t>and the fix, from software, with no new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actual thing, not a mockup. This is the record Kintrace printed</a:t>
            </a:r>
          </a:p>
          <a:p>
            <a:r>
              <a:t>for the incident on slide two.</a:t>
            </a:r>
          </a:p>
          <a:p/>
          <a:p>
            <a:r>
              <a:t>Three things happen. It notices: it found the change at 13:40:23 and matched it</a:t>
            </a:r>
          </a:p>
          <a:p>
            <a:r>
              <a:t>to the protective stop the controller already logged, so you are not guessing</a:t>
            </a:r>
          </a:p>
          <a:p>
            <a:r>
              <a:t>which event mattered.</a:t>
            </a:r>
          </a:p>
          <a:p/>
          <a:p>
            <a:r>
              <a:t>It explains: camera moved 18.1 millimetres. Not "camera fault", not "anomaly</a:t>
            </a:r>
          </a:p>
          <a:p>
            <a:r>
              <a:t>detected". A distance. And it says the other four things it checked did not</a:t>
            </a:r>
          </a:p>
          <a:p>
            <a:r>
              <a:t>move, which is the hard part. A bumped camera and a drifted joint look almost</a:t>
            </a:r>
          </a:p>
          <a:p>
            <a:r>
              <a:t>identical in the logs. The difference is that a moved camera shifts everything</a:t>
            </a:r>
          </a:p>
          <a:p>
            <a:r>
              <a:t>by the same amount, while a joint that is off gives you an error that changes</a:t>
            </a:r>
          </a:p>
          <a:p>
            <a:r>
              <a:t>with the arm's pose. Kintrace fits both explanations and keeps the one that</a:t>
            </a:r>
          </a:p>
          <a:p>
            <a:r>
              <a:t>brings the error down to sensor noise.</a:t>
            </a:r>
          </a:p>
          <a:p/>
          <a:p>
            <a:r>
              <a:t>Then it fixes: writes the calibration, runs the check again, does six test</a:t>
            </a:r>
          </a:p>
          <a:p>
            <a:r>
              <a:t>grabs, and signs GO.</a:t>
            </a:r>
          </a:p>
          <a:p/>
          <a:p>
            <a:r>
              <a:t>There is no model in here. It is geometry and statistics. Same log in, same</a:t>
            </a:r>
          </a:p>
          <a:p>
            <a:r>
              <a:t>answer out, every time, and you can check the arithmetic. For a buyer who has</a:t>
            </a:r>
          </a:p>
          <a:p>
            <a:r>
              <a:t>to certify a cell, that matters more than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benchmark. A hundred and twenty runs, twenty for each of the five</a:t>
            </a:r>
          </a:p>
          <a:p>
            <a:r>
              <a:t>faults plus twenty healthy runs. Every fault is sized so it causes the same</a:t>
            </a:r>
          </a:p>
          <a:p>
            <a:r>
              <a:t>twenty millimetre miss, so the robot looks equally broken in all of them and</a:t>
            </a:r>
          </a:p>
          <a:p>
            <a:r>
              <a:t>the only question is whether you can tell them apart.</a:t>
            </a:r>
          </a:p>
          <a:p/>
          <a:p>
            <a:r>
              <a:t>Orange is Kintrace, grey is the baseline. Look at the top two rows. A joint</a:t>
            </a:r>
          </a:p>
          <a:p>
            <a:r>
              <a:t>knocked off zero: the dashboard gets it right one time in five. A wrong tool</a:t>
            </a:r>
          </a:p>
          <a:p>
            <a:r>
              <a:t>setting loaded: two in five. Those are the expensive ones to diagnose by hand,</a:t>
            </a:r>
          </a:p>
          <a:p>
            <a:r>
              <a:t>and they are exactly where the dashboard is worst, because from its point of</a:t>
            </a:r>
          </a:p>
          <a:p>
            <a:r>
              <a:t>view all of these look like the same thing, which is that grabs are missing.</a:t>
            </a:r>
          </a:p>
          <a:p/>
          <a:p>
            <a:r>
              <a:t>Two honest caveats, and I would rather say them than have you find them.</a:t>
            </a:r>
          </a:p>
          <a:p>
            <a:r>
              <a:t>One, this is our simulator. Two, we wrote the baseline as well, so it is not a</a:t>
            </a:r>
          </a:p>
          <a:p>
            <a:r>
              <a:t>benchmark against a shipping product, it is a benchmark against the signals a</a:t>
            </a:r>
          </a:p>
          <a:p>
            <a:r>
              <a:t>typical dashboard tracks.</a:t>
            </a:r>
          </a:p>
          <a:p/>
          <a:p>
            <a:r>
              <a:t>That is why the money in this round goes to running exactly this on a real 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slide was after a crash. This one is the other half, and honestly it</a:t>
            </a:r>
          </a:p>
          <a:p>
            <a:r>
              <a:t>is the half that makes it a subscription rather than a callout fee.</a:t>
            </a:r>
          </a:p>
          <a:p/>
          <a:p>
            <a:r>
              <a:t>Kintrace reads the logs the robot already writes, with no check motion and no</a:t>
            </a:r>
          </a:p>
          <a:p>
            <a:r>
              <a:t>interruption, and scores the cell every ten seconds. This run is a camera mount</a:t>
            </a:r>
          </a:p>
          <a:p>
            <a:r>
              <a:t>slowly sagging. The score falls. At sixty seconds Kintrace says: your camera is</a:t>
            </a:r>
          </a:p>
          <a:p>
            <a:r>
              <a:t>moving, parts are two and a half millimetres off, at this rate you start</a:t>
            </a:r>
          </a:p>
          <a:p>
            <a:r>
              <a:t>missing in about a minute. At that point nothing has failed yet. The first</a:t>
            </a:r>
          </a:p>
          <a:p>
            <a:r>
              <a:t>missed grab is fifty five seconds later.</a:t>
            </a:r>
          </a:p>
          <a:p/>
          <a:p>
            <a:r>
              <a:t>Across twenty of these drifts it warned in time nineteen times, named the cause</a:t>
            </a:r>
          </a:p>
          <a:p>
            <a:r>
              <a:t>right all twenty, and gave zero false alarms across two hundred and thirty</a:t>
            </a:r>
          </a:p>
          <a:p>
            <a:r>
              <a:t>healthy windows. The zero matters most. A monitoring tool that cries wolf gets</a:t>
            </a:r>
          </a:p>
          <a:p>
            <a:r>
              <a:t>switched off in a week.</a:t>
            </a:r>
          </a:p>
          <a:p/>
          <a:p>
            <a:r>
              <a:t>The drift here is sped up so a run takes minutes instead of weeks. Real drift</a:t>
            </a:r>
          </a:p>
          <a:p>
            <a:r>
              <a:t>is slower, which means more warning, not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this is the right moment, and not two years ago.</a:t>
            </a:r>
          </a:p>
          <a:p/>
          <a:p>
            <a:r>
              <a:t>Three things landed at once. First, two days ago the IFR published its 2026</a:t>
            </a:r>
          </a:p>
          <a:p>
            <a:r>
              <a:t>report: five million industrial robots now operating, a record, up nine</a:t>
            </a:r>
          </a:p>
          <a:p>
            <a:r>
              <a:t>percent. The US installed thirty eight and a half thousand and passed Japan to</a:t>
            </a:r>
          </a:p>
          <a:p>
            <a:r>
              <a:t>become the second largest market. The installed base I sell into is at its</a:t>
            </a:r>
          </a:p>
          <a:p>
            <a:r>
              <a:t>largest ever and still growing.</a:t>
            </a:r>
          </a:p>
          <a:p/>
          <a:p>
            <a:r>
              <a:t>Second, the chart. Venture money into robotics went from three point eight</a:t>
            </a:r>
          </a:p>
          <a:p>
            <a:r>
              <a:t>billion in 2022 to nine point four billion in 2025, up forty one percent in the</a:t>
            </a:r>
          </a:p>
          <a:p>
            <a:r>
              <a:t>last year alone. That money buys arms, and every arm it buys is a cell someone</a:t>
            </a:r>
          </a:p>
          <a:p>
            <a:r>
              <a:t>now has to keep straight.</a:t>
            </a:r>
          </a:p>
          <a:p/>
          <a:p>
            <a:r>
              <a:t>Third, and this is the one I care about most, the physical AI market is</a:t>
            </a:r>
          </a:p>
          <a:p>
            <a:r>
              <a:t>forecast to grow about forty seven percent a year. That whole category is</a:t>
            </a:r>
          </a:p>
          <a:p>
            <a:r>
              <a:t>companies teaching robots from recordings. They are the buyer who feels a</a:t>
            </a:r>
          </a:p>
          <a:p>
            <a:r>
              <a:t>misaligned camera immediately, because it silently poisons the thing they are</a:t>
            </a:r>
          </a:p>
          <a:p>
            <a:r>
              <a:t>spending the money to build.</a:t>
            </a:r>
          </a:p>
          <a:p/>
          <a:p>
            <a:r>
              <a:t>Two years ago I would have been selling to factories only. Now there is a</a:t>
            </a:r>
          </a:p>
          <a:p>
            <a:r>
              <a:t>second buyer who is faster to move and in more of a hurry.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 up first, because I would rather show the arithmetic than a big number.</a:t>
            </a:r>
          </a:p>
          <a:p/>
          <a:p>
            <a:r>
              <a:t>Two hundred dollars a robot a month is twenty four hundred a year. Five million</a:t>
            </a:r>
          </a:p>
          <a:p>
            <a:r>
              <a:t>robots is twelve billion a year if every robot on earth bought it. That is the</a:t>
            </a:r>
          </a:p>
          <a:p>
            <a:r>
              <a:t>TAM and it is not a real number, nobody sells to everybody.</a:t>
            </a:r>
          </a:p>
          <a:p/>
          <a:p>
            <a:r>
              <a:t>The middle circle is the one I actually believe. Kintrace needs the robot to</a:t>
            </a:r>
          </a:p>
          <a:p>
            <a:r>
              <a:t>have a camera looking at the work area. My estimate is about one in ten, which</a:t>
            </a:r>
          </a:p>
          <a:p>
            <a:r>
              <a:t>gets me to one point two billion a year. I want to flag that ten percent is my</a:t>
            </a:r>
          </a:p>
          <a:p>
            <a:r>
              <a:t>estimate. I looked for a public figure for what share of the installed robot</a:t>
            </a:r>
          </a:p>
          <a:p>
            <a:r>
              <a:t>base is vision guided and there is not one. The public numbers size the robot</a:t>
            </a:r>
          </a:p>
          <a:p>
            <a:r>
              <a:t>vision market in dollars, which is a different question. So treat that as the</a:t>
            </a:r>
          </a:p>
          <a:p>
            <a:r>
              <a:t>number to push me on.</a:t>
            </a:r>
          </a:p>
          <a:p/>
          <a:p>
            <a:r>
              <a:t>The small dot is twenty thousand robots five years out, forty eight million a</a:t>
            </a:r>
          </a:p>
          <a:p>
            <a:r>
              <a:t>year. That is the number I am actually trying to hit.</a:t>
            </a:r>
          </a:p>
          <a:p/>
          <a:p>
            <a:r>
              <a:t>As a check from the other direction: twenty two and a half billion a year is</a:t>
            </a:r>
          </a:p>
          <a:p>
            <a:r>
              <a:t>already spent on industrial robot services, maintenance and optimisation,</a:t>
            </a:r>
          </a:p>
          <a:p>
            <a:r>
              <a:t>heading to forty one billion. My twelve billion bottom up sits comfortably</a:t>
            </a:r>
          </a:p>
          <a:p>
            <a:r>
              <a:t>inside a market that already exists and already pays for this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Pricing. Two hundred a robot a month for the always-on watching. In pilots I</a:t>
            </a:r>
          </a:p>
          <a:p>
            <a:r>
              <a:t>will also do it per incident, about three hundred dollars for a fix, because</a:t>
            </a:r>
          </a:p>
          <a:p>
            <a:r>
              <a:t>that is an easier first yes and it prices against the thing it replaces.</a:t>
            </a:r>
          </a:p>
          <a:p/>
          <a:p>
            <a:r>
              <a:t>The thing it replaces is a technician visit, which I put at fifteen hundred to</a:t>
            </a:r>
          </a:p>
          <a:p>
            <a:r>
              <a:t>three thousand dollars. I want to be clear that is my estimate from</a:t>
            </a:r>
          </a:p>
          <a:p>
            <a:r>
              <a:t>conversations, not a published figure. If you have a better number I would</a:t>
            </a:r>
          </a:p>
          <a:p>
            <a:r>
              <a:t>genuinely like it.</a:t>
            </a:r>
          </a:p>
          <a:p/>
          <a:p>
            <a:r>
              <a:t>Order of customers. Robot learning teams first. They feel bad data fastest,</a:t>
            </a:r>
          </a:p>
          <a:p>
            <a:r>
              <a:t>they have budget right now, and they buy software without a procurement cycle.</a:t>
            </a:r>
          </a:p>
          <a:p>
            <a:r>
              <a:t>Then robots-as-a-service fleets, who eat the cost of every callout themselves,</a:t>
            </a:r>
          </a:p>
          <a:p>
            <a:r>
              <a:t>so the maths is immediate. Robot makers last, because they move slowly, but</a:t>
            </a:r>
          </a:p>
          <a:p>
            <a:r>
              <a:t>they are where this ends up if it works.</a:t>
            </a:r>
          </a:p>
          <a:p/>
          <a:p>
            <a:r>
              <a:t>On the right is the landscape. Horizontal is whether you need hardware in the</a:t>
            </a:r>
          </a:p>
          <a:p>
            <a:r>
              <a:t>cell. Vertical is whether you find and fix the cause or just flag it. Dynalog</a:t>
            </a:r>
          </a:p>
          <a:p>
            <a:r>
              <a:t>is top left: they genuinely fix it, but it is a device per cell. Ember and</a:t>
            </a:r>
          </a:p>
          <a:p>
            <a:r>
              <a:t>Foxglove are bottom right: software, but they tell you something is off. The</a:t>
            </a:r>
          </a:p>
          <a:p>
            <a:r>
              <a:t>top right box, software only and actually names and fixes the cause, is empty.</a:t>
            </a:r>
          </a:p>
          <a:p>
            <a:r>
              <a:t>That is the whole bet.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am raising a hundred and fifty thousand. Here is exactly what it buys.</a:t>
            </a:r>
          </a:p>
          <a:p/>
          <a:p>
            <a:r>
              <a:t>First, real hardware. Everything I showed you is simulation and I have said so</a:t>
            </a:r>
          </a:p>
          <a:p>
            <a:r>
              <a:t>on every slide. The single biggest risk in this company is that real sensors</a:t>
            </a:r>
          </a:p>
          <a:p>
            <a:r>
              <a:t>behave worse than my simulator. So the first money goes to a desk arm rig,</a:t>
            </a:r>
          </a:p>
          <a:p>
            <a:r>
              <a:t>about three hundred dollars of parts, where I cause all five faults by hand and</a:t>
            </a:r>
          </a:p>
          <a:p>
            <a:r>
              <a:t>publish what happens, including whatever breaks. Then time on a proper lab arm.</a:t>
            </a:r>
          </a:p>
          <a:p/>
          <a:p>
            <a:r>
              <a:t>Second, three paid pilots with robot learning teams. Paid, because I want to</a:t>
            </a:r>
          </a:p>
          <a:p>
            <a:r>
              <a:t>know if this is a vitamin or a painkiller, and the only honest test is whether</a:t>
            </a:r>
          </a:p>
          <a:p>
            <a:r>
              <a:t>someone hands over money.</a:t>
            </a:r>
          </a:p>
          <a:p/>
          <a:p>
            <a:r>
              <a:t>Third, a reader for real robot logs, so a fleet can send me what they already</a:t>
            </a:r>
          </a:p>
          <a:p>
            <a:r>
              <a:t>record instead of adapting to my format.</a:t>
            </a:r>
          </a:p>
          <a:p/>
          <a:p>
            <a:r>
              <a:t>Timeline on the right. The YC W27 application goes in on the second of</a:t>
            </a:r>
          </a:p>
          <a:p>
            <a:r>
              <a:t>November. Five faults on the desk arm in the first two months, a lab arm and</a:t>
            </a:r>
          </a:p>
          <a:p>
            <a:r>
              <a:t>the first paid pilot by month four, three pilots running by month six.</a:t>
            </a:r>
          </a:p>
          <a:p/>
          <a:p>
            <a:r>
              <a:t>On the team: it is me right now. I am a physical AI research intern at CMU and</a:t>
            </a:r>
          </a:p>
          <a:p>
            <a:r>
              <a:t>I am at the Harvard Innovation Labs, and I wrote all of this. I am looking for</a:t>
            </a:r>
          </a:p>
          <a:p>
            <a:r>
              <a:t>a cofounder and I would rather say that plainly than pretend otherwise.</a:t>
            </a:r>
          </a:p>
          <a:p/>
          <a:p>
            <a:r>
              <a:t>You can run the thing yourself at the demo link before you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417320"/>
            <a:ext cx="1371600" cy="50292"/>
          </a:xfrm>
          <a:prstGeom prst="rect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8308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0">
                <a:solidFill>
                  <a:srgbClr val="0C0C0E"/>
                </a:solidFill>
                <a:latin typeface="Georgia"/>
              </a:rPr>
              <a:t>Kintrace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8503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2300" b="0">
                <a:solidFill>
                  <a:srgbClr val="505157"/>
                </a:solidFill>
                <a:latin typeface="Georgia"/>
              </a:rPr>
              <a:t>Robots get knocked out of place and nobody notices. Kintrace finds what moved and puts it 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349240"/>
            <a:ext cx="10637215" cy="10972"/>
          </a:xfrm>
          <a:prstGeom prst="rect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559552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400" b="1">
                <a:solidFill>
                  <a:srgbClr val="0C0C0E"/>
                </a:solidFill>
                <a:latin typeface="Arial"/>
              </a:rPr>
              <a:t>Rithik Satarla</a:t>
            </a:r>
          </a:p>
          <a:p>
            <a:pPr algn="l">
              <a:lnSpc>
                <a:spcPct val="138000"/>
              </a:lnSpc>
            </a:pPr>
            <a:r>
              <a:rPr sz="1400" b="0">
                <a:solidFill>
                  <a:srgbClr val="0C0C0E"/>
                </a:solidFill>
                <a:latin typeface="Arial"/>
              </a:rPr>
              <a:t>rithiksatarla@gmail.com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5559552"/>
            <a:ext cx="38706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8000"/>
              </a:lnSpc>
            </a:pPr>
            <a:r>
              <a:rPr sz="1200" b="0">
                <a:solidFill>
                  <a:srgbClr val="76777D"/>
                </a:solidFill>
                <a:latin typeface="Arial"/>
              </a:rPr>
              <a:t>Previously LoopCell.
Same product, new name.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12064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0">
                <a:solidFill>
                  <a:srgbClr val="0C0C0E"/>
                </a:solidFill>
                <a:latin typeface="Georgia"/>
              </a:rPr>
              <a:t>At 1:40 a cart clips a camera. Nobody finds out until 2:10.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078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05157"/>
                </a:solidFill>
                <a:latin typeface="Arial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3" y="2304288"/>
            <a:ext cx="10180015" cy="9144"/>
          </a:xfrm>
          <a:prstGeom prst="rect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8" y="2253996"/>
            <a:ext cx="118872" cy="118872"/>
          </a:xfrm>
          <a:prstGeom prst="ellipse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23744"/>
            <a:ext cx="22615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1:40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05157"/>
                </a:solidFill>
                <a:latin typeface="Arial"/>
              </a:rPr>
              <a:t>A cart clips the camera mount. Nothing alarms.</a:t>
            </a:r>
          </a:p>
        </p:txBody>
      </p:sp>
      <p:sp>
        <p:nvSpPr>
          <p:cNvPr id="7" name="Oval 6"/>
          <p:cNvSpPr/>
          <p:nvPr/>
        </p:nvSpPr>
        <p:spPr>
          <a:xfrm>
            <a:off x="3294811" y="2253996"/>
            <a:ext cx="118872" cy="118872"/>
          </a:xfrm>
          <a:prstGeom prst="ellipse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6523" y="2523744"/>
            <a:ext cx="22615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1:40 on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05157"/>
                </a:solidFill>
                <a:latin typeface="Arial"/>
              </a:rPr>
              <a:t>The robot keeps working. Every grab is now a centimetre off.</a:t>
            </a:r>
          </a:p>
        </p:txBody>
      </p:sp>
      <p:sp>
        <p:nvSpPr>
          <p:cNvPr id="9" name="Oval 8"/>
          <p:cNvSpPr/>
          <p:nvPr/>
        </p:nvSpPr>
        <p:spPr>
          <a:xfrm>
            <a:off x="5794095" y="2253996"/>
            <a:ext cx="118872" cy="118872"/>
          </a:xfrm>
          <a:prstGeom prst="ellipse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75807" y="2523744"/>
            <a:ext cx="22615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2:10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05157"/>
                </a:solidFill>
                <a:latin typeface="Arial"/>
              </a:rPr>
              <a:t>Grabs start missing. The line stops.</a:t>
            </a:r>
          </a:p>
        </p:txBody>
      </p:sp>
      <p:sp>
        <p:nvSpPr>
          <p:cNvPr id="11" name="Oval 10"/>
          <p:cNvSpPr/>
          <p:nvPr/>
        </p:nvSpPr>
        <p:spPr>
          <a:xfrm>
            <a:off x="8293379" y="2253996"/>
            <a:ext cx="118872" cy="118872"/>
          </a:xfrm>
          <a:prstGeom prst="ellipse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091" y="2523744"/>
            <a:ext cx="22615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Hours later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05157"/>
                </a:solidFill>
                <a:latin typeface="Arial"/>
              </a:rPr>
              <a:t>A technician arrives and checks each possible cause by hand.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1363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8662F"/>
                </a:solidFill>
                <a:latin typeface="Arial"/>
              </a:rPr>
              <a:t>With Kintrace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3" y="4517136"/>
            <a:ext cx="10180015" cy="9144"/>
          </a:xfrm>
          <a:prstGeom prst="rect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8" y="4466844"/>
            <a:ext cx="118872" cy="118872"/>
          </a:xfrm>
          <a:prstGeom prst="ellipse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36592"/>
            <a:ext cx="22615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1:40:23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05157"/>
                </a:solidFill>
                <a:latin typeface="Arial"/>
              </a:rPr>
              <a:t>Flagged. The camera moved 18 mm.</a:t>
            </a:r>
          </a:p>
        </p:txBody>
      </p:sp>
      <p:sp>
        <p:nvSpPr>
          <p:cNvPr id="17" name="Oval 16"/>
          <p:cNvSpPr/>
          <p:nvPr/>
        </p:nvSpPr>
        <p:spPr>
          <a:xfrm>
            <a:off x="3294811" y="4466844"/>
            <a:ext cx="118872" cy="118872"/>
          </a:xfrm>
          <a:prstGeom prst="ellipse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6523" y="4736592"/>
            <a:ext cx="22615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1:40:29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05157"/>
                </a:solidFill>
                <a:latin typeface="Arial"/>
              </a:rPr>
              <a:t>A 6 second check motion confirms nothing else moved.</a:t>
            </a:r>
          </a:p>
        </p:txBody>
      </p:sp>
      <p:sp>
        <p:nvSpPr>
          <p:cNvPr id="19" name="Oval 18"/>
          <p:cNvSpPr/>
          <p:nvPr/>
        </p:nvSpPr>
        <p:spPr>
          <a:xfrm>
            <a:off x="5794095" y="4466844"/>
            <a:ext cx="118872" cy="118872"/>
          </a:xfrm>
          <a:prstGeom prst="ellipse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5807" y="4736592"/>
            <a:ext cx="22615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1:41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05157"/>
                </a:solidFill>
                <a:latin typeface="Arial"/>
              </a:rPr>
              <a:t>The new camera calibration is written to the controller.</a:t>
            </a:r>
          </a:p>
        </p:txBody>
      </p:sp>
      <p:sp>
        <p:nvSpPr>
          <p:cNvPr id="21" name="Oval 20"/>
          <p:cNvSpPr/>
          <p:nvPr/>
        </p:nvSpPr>
        <p:spPr>
          <a:xfrm>
            <a:off x="8293379" y="4466844"/>
            <a:ext cx="118872" cy="118872"/>
          </a:xfrm>
          <a:prstGeom prst="ellipse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091" y="4736592"/>
            <a:ext cx="226153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1:43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05157"/>
                </a:solidFill>
                <a:latin typeface="Arial"/>
              </a:rPr>
              <a:t>Six test grabs, all good. Signed off, back in production.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533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76777D"/>
                </a:solidFill>
                <a:latin typeface="Arial"/>
              </a:rPr>
              <a:t>An illustration. The 18 mm and the timings are printed by the tool, running on our simulator. No cell like this exists yet.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12064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0">
                <a:solidFill>
                  <a:srgbClr val="0C0C0E"/>
                </a:solidFill>
                <a:latin typeface="Georgia"/>
              </a:rPr>
              <a:t>You pay for it twice: in ruined training data, and in stopped lines.</a:t>
            </a:r>
          </a:p>
        </p:txBody>
      </p:sp>
      <p:pic>
        <p:nvPicPr>
          <p:cNvPr id="3" name="Picture 2" descr="cost_epis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10512"/>
            <a:ext cx="5989320" cy="18071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3785615"/>
            <a:ext cx="5760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1">
                <a:solidFill>
                  <a:srgbClr val="0C0C0E"/>
                </a:solidFill>
                <a:latin typeface="Arial"/>
              </a:rPr>
              <a:t>Robot training data</a:t>
            </a:r>
          </a:p>
          <a:p>
            <a:pPr algn="l">
              <a:lnSpc>
                <a:spcPct val="134000"/>
              </a:lnSpc>
            </a:pPr>
            <a:r>
              <a:rPr sz="1500" b="0">
                <a:solidFill>
                  <a:srgbClr val="505157"/>
                </a:solidFill>
                <a:latin typeface="Arial"/>
              </a:rPr>
              <a:t>An open audit of 4,959 recorded episodes flagged 15.6% of them for exclusion, and another half for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60920" y="1883664"/>
            <a:ext cx="10972" cy="10972"/>
          </a:xfrm>
          <a:prstGeom prst="rect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1837944"/>
            <a:ext cx="10972" cy="2697480"/>
          </a:xfrm>
          <a:prstGeom prst="rect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65376"/>
            <a:ext cx="36576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0">
                <a:solidFill>
                  <a:srgbClr val="E8662F"/>
                </a:solidFill>
                <a:latin typeface="Georgia"/>
              </a:rPr>
              <a:t>$2.3M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743200"/>
            <a:ext cx="36576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700" b="1">
                <a:solidFill>
                  <a:srgbClr val="0C0C0E"/>
                </a:solidFill>
                <a:latin typeface="Arial"/>
              </a:rPr>
              <a:t>an hour</a:t>
            </a:r>
          </a:p>
          <a:p>
            <a:pPr algn="l">
              <a:lnSpc>
                <a:spcPct val="134000"/>
              </a:lnSpc>
            </a:pPr>
            <a:r>
              <a:rPr sz="1500" b="0">
                <a:solidFill>
                  <a:srgbClr val="505157"/>
                </a:solidFill>
                <a:latin typeface="Arial"/>
              </a:rPr>
              <a:t>Up to, for an idle production line at a big car plant. Across the 500 largest manufacturers, unplanned downtime of every kind costs $1.4 trillion a year, about 11% of revenue.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6777D"/>
                </a:solidFill>
                <a:latin typeface="Arial"/>
              </a:rPr>
              <a:t>Episode audit: an open source tool run over 12 public datasets, dev.to, 2026. Downtime: Siemens, The True Cost of Downtime 2024. Both linked in pitch/SOURCES.md.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12064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0">
                <a:solidFill>
                  <a:srgbClr val="0C0C0E"/>
                </a:solidFill>
                <a:latin typeface="Georgia"/>
              </a:rPr>
              <a:t>Everything on the market tells you something is wrong, not what moved.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00784"/>
            <a:ext cx="960120" cy="32004"/>
          </a:xfrm>
          <a:prstGeom prst="rect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0C0C0E"/>
                </a:solidFill>
                <a:latin typeface="Georgia"/>
              </a:rPr>
              <a:t>Monitoring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9464"/>
            <a:ext cx="308853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6777D"/>
                </a:solidFill>
                <a:latin typeface="Arial"/>
              </a:rPr>
              <a:t>Ember, Foxglove, Formant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99232"/>
            <a:ext cx="308853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>
                <a:solidFill>
                  <a:srgbClr val="505157"/>
                </a:solidFill>
                <a:latin typeface="Arial"/>
              </a:rPr>
              <a:t>They watch the software and the logs. They will tell you a cell is slow or a run failed. They do not measure where the camera is, so they cannot name the physical cause.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51578" y="1700784"/>
            <a:ext cx="960120" cy="32004"/>
          </a:xfrm>
          <a:prstGeom prst="rect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1578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0C0C0E"/>
                </a:solidFill>
                <a:latin typeface="Georgia"/>
              </a:rPr>
              <a:t>Calibration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569464"/>
            <a:ext cx="308853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6777D"/>
                </a:solidFill>
                <a:latin typeface="Arial"/>
              </a:rPr>
              <a:t>Dynalog, CAPTRON, Renishaw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1578" y="2999232"/>
            <a:ext cx="308853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>
                <a:solidFill>
                  <a:srgbClr val="505157"/>
                </a:solidFill>
                <a:latin typeface="Arial"/>
              </a:rPr>
              <a:t>These do measure, and they are accurate. But you bolt a device into every cell you want covered, and each one mostly does the tool.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5916" y="1700784"/>
            <a:ext cx="960120" cy="32004"/>
          </a:xfrm>
          <a:prstGeom prst="rect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5916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0C0C0E"/>
                </a:solidFill>
                <a:latin typeface="Georgia"/>
              </a:rPr>
              <a:t>A technician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5916" y="2569464"/>
            <a:ext cx="308853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6777D"/>
                </a:solidFill>
                <a:latin typeface="Arial"/>
              </a:rPr>
              <a:t>How it is actually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5916" y="2999232"/>
            <a:ext cx="308853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>
                <a:solidFill>
                  <a:srgbClr val="505157"/>
                </a:solidFill>
                <a:latin typeface="Arial"/>
              </a:rPr>
              <a:t>Someone drives out and rules out each cause by hand, one at a time, with the cell down while they do it. It works. It costs hours.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285232"/>
            <a:ext cx="10637215" cy="841248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" y="5477256"/>
            <a:ext cx="994227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0C0C0E"/>
                </a:solidFill>
                <a:latin typeface="Arial"/>
              </a:rPr>
              <a:t>We have not found anyone doing all of it from software alone: when it changed, what moved, by how much, and the fix written 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12064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0">
                <a:solidFill>
                  <a:srgbClr val="0C0C0E"/>
                </a:solidFill>
                <a:latin typeface="Georgia"/>
              </a:rPr>
              <a:t>Kintrace reads the robot's own logs, then says what moved and writes the fix.</a:t>
            </a:r>
          </a:p>
        </p:txBody>
      </p:sp>
      <p:pic>
        <p:nvPicPr>
          <p:cNvPr id="3" name="Picture 2" descr="play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46504"/>
            <a:ext cx="7863840" cy="357763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961119" y="1938528"/>
            <a:ext cx="137160" cy="137160"/>
          </a:xfrm>
          <a:prstGeom prst="ellipse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72015" y="184708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C0C0E"/>
                </a:solidFill>
                <a:latin typeface="Georgia"/>
              </a:rPr>
              <a:t>Notices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72015" y="2231136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>
                <a:solidFill>
                  <a:srgbClr val="505157"/>
                </a:solidFill>
                <a:latin typeface="Arial"/>
              </a:rPr>
              <a:t>It finds the moment things changed and lines it up with the protective stop.</a:t>
            </a:r>
          </a:p>
        </p:txBody>
      </p:sp>
      <p:sp>
        <p:nvSpPr>
          <p:cNvPr id="7" name="Oval 6"/>
          <p:cNvSpPr/>
          <p:nvPr/>
        </p:nvSpPr>
        <p:spPr>
          <a:xfrm>
            <a:off x="8961119" y="3419856"/>
            <a:ext cx="137160" cy="137160"/>
          </a:xfrm>
          <a:prstGeom prst="ellipse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72015" y="3328416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C0C0E"/>
                </a:solidFill>
                <a:latin typeface="Georgia"/>
              </a:rPr>
              <a:t>Explains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72015" y="3712464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>
                <a:solidFill>
                  <a:srgbClr val="505157"/>
                </a:solidFill>
                <a:latin typeface="Arial"/>
              </a:rPr>
              <a:t>It names the cause and sizes it. Here: the camera, 18.1 mm.</a:t>
            </a:r>
          </a:p>
        </p:txBody>
      </p:sp>
      <p:sp>
        <p:nvSpPr>
          <p:cNvPr id="10" name="Oval 9"/>
          <p:cNvSpPr/>
          <p:nvPr/>
        </p:nvSpPr>
        <p:spPr>
          <a:xfrm>
            <a:off x="8961119" y="4901184"/>
            <a:ext cx="137160" cy="137160"/>
          </a:xfrm>
          <a:prstGeom prst="ellipse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72015" y="480974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C0C0E"/>
                </a:solidFill>
                <a:latin typeface="Georgia"/>
              </a:rPr>
              <a:t>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2015" y="5193792"/>
            <a:ext cx="26060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350" b="0">
                <a:solidFill>
                  <a:srgbClr val="505157"/>
                </a:solidFill>
                <a:latin typeface="Arial"/>
              </a:rPr>
              <a:t>It writes the new calibration, re-checks, runs six test grabs, then signs GO or NO-GO.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1675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76777D"/>
                </a:solidFill>
                <a:latin typeface="Arial"/>
              </a:rPr>
              <a:t>A real run of the tool, on our simulated cell. Try it yourself at the link on the last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12064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0">
                <a:solidFill>
                  <a:srgbClr val="0C0C0E"/>
                </a:solidFill>
                <a:latin typeface="Georgia"/>
              </a:rPr>
              <a:t>In our simulator, Kintrace named the right cause every time. The dashboard baseline we wrote got 69%.</a:t>
            </a:r>
          </a:p>
        </p:txBody>
      </p:sp>
      <p:pic>
        <p:nvPicPr>
          <p:cNvPr id="3" name="Picture 2" descr="results_by_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1773936"/>
            <a:ext cx="8595360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632764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6777D"/>
                </a:solidFill>
                <a:latin typeface="Arial"/>
              </a:rPr>
              <a:t>120 runs on our simulated UR5e pick cell, 20 per case, every fault sized to cause the same 20 mm miss. The baseline is ours, built from the signals a typical dashboard tracks. Never run on a real arm.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12064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0">
                <a:solidFill>
                  <a:srgbClr val="0C0C0E"/>
                </a:solidFill>
                <a:latin typeface="Georgia"/>
              </a:rPr>
              <a:t>It also catches slow drift, about 55 seconds before the first grab misses.</a:t>
            </a:r>
          </a:p>
        </p:txBody>
      </p:sp>
      <p:pic>
        <p:nvPicPr>
          <p:cNvPr id="3" name="Picture 2" descr="early_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746504"/>
            <a:ext cx="8902337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632764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6777D"/>
                </a:solidFill>
                <a:latin typeface="Arial"/>
              </a:rPr>
              <a:t>One simulated run of a sagging camera mount. Across 20 drifts it warned before the first miss 19 times, named the cause right 20 times, and raised 0 false alarms in 230 healthy windows. Drift is sped up so a run takes minutes. We have not measured lead time at real-world drift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12064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0">
                <a:solidFill>
                  <a:srgbClr val="0C0C0E"/>
                </a:solidFill>
                <a:latin typeface="Georgia"/>
              </a:rPr>
              <a:t>There have never been more robots, and the money behind them doubled in three years.</a:t>
            </a:r>
          </a:p>
        </p:txBody>
      </p:sp>
      <p:pic>
        <p:nvPicPr>
          <p:cNvPr id="3" name="Picture 2" descr="why_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92224"/>
            <a:ext cx="7223760" cy="3487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0" y="1847088"/>
            <a:ext cx="868680" cy="32004"/>
          </a:xfrm>
          <a:prstGeom prst="rect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2084832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0C0C0E"/>
                </a:solidFill>
                <a:latin typeface="Georgia"/>
              </a:rPr>
              <a:t>5 million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715768"/>
            <a:ext cx="329184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05157"/>
                </a:solidFill>
                <a:latin typeface="Arial"/>
              </a:rPr>
              <a:t>industrial robots now operating, a record, up 9% in a year. The US installed 38,500 and passed Japan. IFR, September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4059935"/>
            <a:ext cx="868680" cy="32004"/>
          </a:xfrm>
          <a:prstGeom prst="rect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4297679"/>
            <a:ext cx="32918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0C0C0E"/>
                </a:solidFill>
                <a:latin typeface="Georgia"/>
              </a:rPr>
              <a:t>47% a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928616"/>
            <a:ext cx="329184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05157"/>
                </a:solidFill>
                <a:latin typeface="Arial"/>
              </a:rPr>
              <a:t>forecast growth for physical AI, from $0.89B in 2025 to $15.2B by 2032. Every robot in it learns from recordings.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6777D"/>
                </a:solidFill>
                <a:latin typeface="Arial"/>
              </a:rPr>
              <a:t>IFR World Robotics 2026. MarketsandMarkets, physical AI. Venture figures from Robotics Center, State of Robotics 2026. Links in pitch/SOURCES.md.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12064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0">
                <a:solidFill>
                  <a:srgbClr val="0C0C0E"/>
                </a:solidFill>
                <a:latin typeface="Georgia"/>
              </a:rPr>
              <a:t>At $200 a robot a month, the part we can realistically sell to is $1.2B a year.</a:t>
            </a:r>
          </a:p>
        </p:txBody>
      </p:sp>
      <p:pic>
        <p:nvPicPr>
          <p:cNvPr id="3" name="Picture 2" descr="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719072"/>
            <a:ext cx="8662416" cy="35844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468112"/>
            <a:ext cx="10637215" cy="749808"/>
          </a:xfrm>
          <a:prstGeom prst="rect">
            <a:avLst/>
          </a:prstGeom>
          <a:solidFill>
            <a:srgbClr val="F6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5623560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C0C0E"/>
                </a:solidFill>
                <a:latin typeface="Arial"/>
              </a:rPr>
              <a:t>Top down check:  </a:t>
            </a:r>
            <a:r>
              <a:rPr sz="1500" b="0">
                <a:solidFill>
                  <a:srgbClr val="505157"/>
                </a:solidFill>
                <a:latin typeface="Arial"/>
              </a:rPr>
              <a:t>$22.5B was spent on industrial robot services in 2023, heading to $41.6B by 2033. Our $12B bottom up number sits inside a services market that is already twice its size.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2764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76777D"/>
                </a:solidFill>
                <a:latin typeface="Arial"/>
              </a:rPr>
              <a:t>Robot count: IFR World Robotics 2026. Services market: Market.us, October 2024. The 10% camera share is our own estimate; we looked for a public figure and did not find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12064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0">
                <a:solidFill>
                  <a:srgbClr val="0C0C0E"/>
                </a:solidFill>
                <a:latin typeface="Georgia"/>
              </a:rPr>
              <a:t>$200 a robot a month, against a technician visit that costs $1,500 to $3,000.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0784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76777D"/>
                </a:solidFill>
                <a:latin typeface="Arial"/>
              </a:rPr>
              <a:t>How we 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39696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E8662F"/>
                </a:solidFill>
                <a:latin typeface="Georgia"/>
              </a:rPr>
              <a:t>$200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87168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05157"/>
                </a:solidFill>
                <a:latin typeface="Arial"/>
              </a:rPr>
              <a:t>per robot, per month, for always-on watching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27248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E8662F"/>
                </a:solidFill>
                <a:latin typeface="Georgia"/>
              </a:rPr>
              <a:t>~$300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74720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05157"/>
                </a:solidFill>
                <a:latin typeface="Arial"/>
              </a:rPr>
              <a:t>per incident we find and fix. Planned pilot pricing, no pilots 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14800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505157"/>
                </a:solidFill>
                <a:latin typeface="Georgia"/>
              </a:rPr>
              <a:t>$1,500 to $3,000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62272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05157"/>
                </a:solidFill>
                <a:latin typeface="Arial"/>
              </a:rPr>
              <a:t>what the technician visit it replaces costs today (our estimate)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1208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76777D"/>
                </a:solidFill>
                <a:latin typeface="Arial"/>
              </a:rPr>
              <a:t>Who we sell to, in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14416"/>
            <a:ext cx="3703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350" b="0">
                <a:solidFill>
                  <a:srgbClr val="505157"/>
                </a:solidFill>
                <a:latin typeface="Arial"/>
              </a:rPr>
              <a:t>Robot learning teams first, they feel bad data fastest. Then robots-as-a-service fleets, who pay for every callout. Then robot makers.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020824"/>
            <a:ext cx="5029200" cy="352044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3781044"/>
            <a:ext cx="5029200" cy="10972"/>
          </a:xfrm>
          <a:prstGeom prst="rect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58200" y="2020824"/>
            <a:ext cx="10972" cy="3520440"/>
          </a:xfrm>
          <a:prstGeom prst="rect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233172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Dynalog, CAPTRON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624327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505157"/>
                </a:solidFill>
                <a:latin typeface="Arial"/>
              </a:rPr>
              <a:t>Finds and fixes it, but you mount hardware in every cell.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4232" y="2331720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E8662F"/>
                </a:solidFill>
                <a:latin typeface="Arial"/>
              </a:rPr>
              <a:t>Kintrace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2624327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505157"/>
                </a:solidFill>
                <a:latin typeface="Arial"/>
              </a:rPr>
              <a:t>Finds it, sizes it, writes the fix, certifies the cell. Software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4091939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Robot makers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384548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505157"/>
                </a:solidFill>
                <a:latin typeface="Arial"/>
              </a:rPr>
              <a:t>Built-in mastering routines. One brand, run by a technician.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4091939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Ember, Foxglove, dataset checkers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4384548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505157"/>
                </a:solidFill>
                <a:latin typeface="Arial"/>
              </a:rPr>
              <a:t>Show you something is off. No geometry, no fix.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099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76777D"/>
                </a:solidFill>
                <a:latin typeface="Arial"/>
              </a:rPr>
              <a:t>Finds and fixes the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5961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>
                <a:solidFill>
                  <a:srgbClr val="76777D"/>
                </a:solidFill>
                <a:latin typeface="Arial"/>
              </a:rPr>
              <a:t>Only shows a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3616451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50" b="1">
                <a:solidFill>
                  <a:srgbClr val="76777D"/>
                </a:solidFill>
                <a:latin typeface="Arial"/>
              </a:rPr>
              <a:t>Needs 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27664" y="3616451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76777D"/>
                </a:solidFill>
                <a:latin typeface="Arial"/>
              </a:rPr>
              <a:t>Software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12064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0">
                <a:solidFill>
                  <a:srgbClr val="0C0C0E"/>
                </a:solidFill>
                <a:latin typeface="Georgia"/>
              </a:rPr>
              <a:t>Raising [$150K] to put Kintrace on real arms and into three paid pilots.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0078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76777D"/>
                </a:solidFill>
                <a:latin typeface="Arial"/>
              </a:rPr>
              <a:t>Where it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12264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1100"/>
              </a:spcAft>
            </a:pPr>
            <a:r>
              <a:rPr sz="1450" b="0">
                <a:solidFill>
                  <a:srgbClr val="505157"/>
                </a:solidFill>
                <a:latin typeface="Arial"/>
              </a:rPr>
              <a:t>A desk arm rig, then time on a lab arm, to reproduce all five faults on real hardware.</a:t>
            </a:r>
          </a:p>
          <a:p>
            <a:pPr algn="l">
              <a:lnSpc>
                <a:spcPct val="142000"/>
              </a:lnSpc>
              <a:spcAft>
                <a:spcPts val="1100"/>
              </a:spcAft>
            </a:pPr>
            <a:r>
              <a:rPr sz="1450" b="0">
                <a:solidFill>
                  <a:srgbClr val="505157"/>
                </a:solidFill>
                <a:latin typeface="Arial"/>
              </a:rPr>
              <a:t>Three paid pilots with robot learning teams.</a:t>
            </a:r>
          </a:p>
          <a:p>
            <a:pPr algn="l">
              <a:lnSpc>
                <a:spcPct val="142000"/>
              </a:lnSpc>
              <a:spcAft>
                <a:spcPts val="1100"/>
              </a:spcAft>
            </a:pPr>
            <a:r>
              <a:rPr sz="1450" b="0">
                <a:solidFill>
                  <a:srgbClr val="505157"/>
                </a:solidFill>
                <a:latin typeface="Arial"/>
              </a:rPr>
              <a:t>A reader so fleets can send their own robot logs, in the formats they already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6227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76777D"/>
                </a:solidFill>
                <a:latin typeface="Arial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55464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b="1">
                <a:solidFill>
                  <a:srgbClr val="0C0C0E"/>
                </a:solidFill>
                <a:latin typeface="Arial"/>
              </a:rPr>
              <a:t>Rithik Satarla</a:t>
            </a:r>
          </a:p>
          <a:p>
            <a:pPr algn="l">
              <a:lnSpc>
                <a:spcPct val="138000"/>
              </a:lnSpc>
            </a:pPr>
            <a:r>
              <a:rPr sz="1350" b="0">
                <a:solidFill>
                  <a:srgbClr val="505157"/>
                </a:solidFill>
                <a:latin typeface="Arial"/>
              </a:rPr>
              <a:t>Physical AI research intern at CMU. Harvard Innovation Labs. Wrote all of the above.</a:t>
            </a:r>
          </a:p>
          <a:p>
            <a:pPr algn="l">
              <a:lnSpc>
                <a:spcPct val="138000"/>
              </a:lnSpc>
            </a:pPr>
            <a:r>
              <a:rPr sz="1350" b="0">
                <a:solidFill>
                  <a:srgbClr val="76777D"/>
                </a:solidFill>
                <a:latin typeface="Arial"/>
              </a:rPr>
              <a:t>[Cofounder]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0078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76777D"/>
                </a:solidFill>
                <a:latin typeface="Arial"/>
              </a:rPr>
              <a:t>Next six months</a:t>
            </a:r>
          </a:p>
        </p:txBody>
      </p:sp>
      <p:sp>
        <p:nvSpPr>
          <p:cNvPr id="8" name="Oval 7"/>
          <p:cNvSpPr/>
          <p:nvPr/>
        </p:nvSpPr>
        <p:spPr>
          <a:xfrm>
            <a:off x="6327648" y="2240279"/>
            <a:ext cx="128016" cy="128016"/>
          </a:xfrm>
          <a:prstGeom prst="ellipse">
            <a:avLst/>
          </a:prstGeom>
          <a:solidFill>
            <a:srgbClr val="E8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11696" y="2139696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Nov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2450591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>
                <a:solidFill>
                  <a:srgbClr val="505157"/>
                </a:solidFill>
                <a:latin typeface="Arial"/>
              </a:rPr>
              <a:t>YC W27 application in</a:t>
            </a:r>
          </a:p>
        </p:txBody>
      </p:sp>
      <p:sp>
        <p:nvSpPr>
          <p:cNvPr id="11" name="Oval 10"/>
          <p:cNvSpPr/>
          <p:nvPr/>
        </p:nvSpPr>
        <p:spPr>
          <a:xfrm>
            <a:off x="6327648" y="3209544"/>
            <a:ext cx="128016" cy="128016"/>
          </a:xfrm>
          <a:prstGeom prst="ellipse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3108960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Month 1-2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1696" y="341985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>
                <a:solidFill>
                  <a:srgbClr val="505157"/>
                </a:solidFill>
                <a:latin typeface="Arial"/>
              </a:rPr>
              <a:t>Five faults reproduced on the desk arm, numbers published</a:t>
            </a:r>
          </a:p>
        </p:txBody>
      </p:sp>
      <p:sp>
        <p:nvSpPr>
          <p:cNvPr id="14" name="Oval 13"/>
          <p:cNvSpPr/>
          <p:nvPr/>
        </p:nvSpPr>
        <p:spPr>
          <a:xfrm>
            <a:off x="6327648" y="4178808"/>
            <a:ext cx="128016" cy="128016"/>
          </a:xfrm>
          <a:prstGeom prst="ellipse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11696" y="4078224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Month 3-4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438912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>
                <a:solidFill>
                  <a:srgbClr val="505157"/>
                </a:solidFill>
                <a:latin typeface="Arial"/>
              </a:rPr>
              <a:t>Same five on a lab arm, and the first paid pilot</a:t>
            </a:r>
          </a:p>
        </p:txBody>
      </p:sp>
      <p:sp>
        <p:nvSpPr>
          <p:cNvPr id="17" name="Oval 16"/>
          <p:cNvSpPr/>
          <p:nvPr/>
        </p:nvSpPr>
        <p:spPr>
          <a:xfrm>
            <a:off x="6327648" y="5148072"/>
            <a:ext cx="128016" cy="128016"/>
          </a:xfrm>
          <a:prstGeom prst="ellipse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5047488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C0C0E"/>
                </a:solidFill>
                <a:latin typeface="Arial"/>
              </a:rPr>
              <a:t>Month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535838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>
                <a:solidFill>
                  <a:srgbClr val="505157"/>
                </a:solidFill>
                <a:latin typeface="Arial"/>
              </a:rPr>
              <a:t>Three paid pilots running, real log reader shipped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870448"/>
            <a:ext cx="10637215" cy="10972"/>
          </a:xfrm>
          <a:prstGeom prst="rect">
            <a:avLst/>
          </a:prstGeom>
          <a:solidFill>
            <a:srgbClr val="E3E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05332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05157"/>
                </a:solidFill>
                <a:latin typeface="Arial"/>
              </a:rPr>
              <a:t>rithiksatarla@gmail.com    ·    Try it: [live demo link]    ·    Code: github.com/RithikSatarla/kintrace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